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893" r:id="rId4"/>
    <p:sldId id="2892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61CFFE-E26C-D338-5C77-85855D3D87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D47BE5F-ECAF-E9B3-62F7-7E51F25342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0858A4A-CE96-27DF-5CDC-C215E54EA3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3FF9B-A5AD-4354-BFCA-3B0FF879B822}" type="datetimeFigureOut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58B0488-7A73-6888-EA72-F1C036B615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267EDA-87DF-A3B2-8B17-9EE2F0497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D499EF-48A3-4631-AA9F-39E69F578E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20432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8BB867-6F1C-11BE-CA6E-A3A233CCC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3473131-4C86-F5C2-1885-394FE7DFCE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D5B32F3-1C46-9D21-0275-ACE5AC6D8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3FF9B-A5AD-4354-BFCA-3B0FF879B822}" type="datetimeFigureOut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A34F43-4B59-BB7C-7248-3032769D57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DE3D4C5-FBB4-C1A9-5C88-A26803D28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D499EF-48A3-4631-AA9F-39E69F578E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02989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D771C0-209F-3353-D931-BF3256CB3D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C40FBB5-FBD7-3D85-D2F9-2027E3C248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CCBA7DB-15E7-1737-BACC-28DD174AC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3FF9B-A5AD-4354-BFCA-3B0FF879B822}" type="datetimeFigureOut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A018EA6-0F4A-6802-5608-8E1E792F3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05316A3-F43F-283D-5BB0-69EAED2BF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D499EF-48A3-4631-AA9F-39E69F578E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06474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537D5C-4593-F90A-B945-3F6673E8C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52482C0-532C-9FE9-791B-4A336EF9FB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FFD3493-6A6D-295E-0695-D2AF0573F4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458AED7-ACF9-543D-C4BD-7EDB6DE2D0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3FF9B-A5AD-4354-BFCA-3B0FF879B822}" type="datetimeFigureOut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399E866-E472-EAAA-74AB-4CF9479E6D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9648B68-09D2-3C60-BAC2-833F49C4A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D499EF-48A3-4631-AA9F-39E69F578E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79425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FC432B-2806-1FB7-36F6-3BB02B42B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2D74E3-67A0-E8A1-224D-B4B4C653F8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1F296BA-4D4D-D4C8-851F-6591486A5B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653D69F-9458-C1C4-690D-B0D049B75B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F3AD72E-C2DB-13A1-F1F4-CF871BF58C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B5042F6-44F0-F8BA-C4D0-17AE4782A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3FF9B-A5AD-4354-BFCA-3B0FF879B822}" type="datetimeFigureOut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7F68751-87A7-D3D4-773E-F3501A9376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19B9370-BB33-26A3-D655-B557B5457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D499EF-48A3-4631-AA9F-39E69F578E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24841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D8EC7C-390B-01F0-DF88-69F2589BFA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89BC8AD-1969-2DF3-2825-C780E1F052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3FF9B-A5AD-4354-BFCA-3B0FF879B822}" type="datetimeFigureOut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1BAFE17-6080-5145-9969-8C28DA728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0F84CF0-4FE2-A36A-542C-6358DF7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D499EF-48A3-4631-AA9F-39E69F578E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14369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9E1F3F8-6F13-B690-B7F5-D094ECDDD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3FF9B-A5AD-4354-BFCA-3B0FF879B822}" type="datetimeFigureOut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4671AD8-F8E4-5306-2965-08E7DBCF7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1064C0-BA57-4043-4612-4A6C45BE5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D499EF-48A3-4631-AA9F-39E69F578E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61773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9ED8B5-E97E-01BA-5201-DDF6AAFFFC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7BA2156-AB19-A4AB-24DA-5CE1B530D8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01D8D87-EF1C-6A40-E66E-1350883E8D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1924CC9-2B50-34BB-61D6-BDC41AD98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3FF9B-A5AD-4354-BFCA-3B0FF879B822}" type="datetimeFigureOut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B2CBB42-9130-4AB7-092C-6164F1D774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77540CE-5295-0BF3-D649-8F18F8EE5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D499EF-48A3-4631-AA9F-39E69F578E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86054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D94D16-51DA-29E0-9208-C4B0D580D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B81176-69C7-DFF0-1D5B-1F690C2FD0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FBE721A-D35B-8EB0-08A2-17BB1DC6A0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DBDE834-9BBA-0BB3-8F92-4DB4998F0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3FF9B-A5AD-4354-BFCA-3B0FF879B822}" type="datetimeFigureOut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58F7ED7-D9FE-1B88-D2AB-8E6F9CB03B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CDFC54A-E1E1-B023-D4CC-473A77F8D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D499EF-48A3-4631-AA9F-39E69F578E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51860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4B5249-22AA-7C6A-AF9A-27080197B5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A4AF280-9755-D367-10D2-B4F8347CBC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BB65B42-A184-6685-E60E-7B6082E8F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3FF9B-A5AD-4354-BFCA-3B0FF879B822}" type="datetimeFigureOut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4DBF126-BC06-6B2C-7EFC-79B7B703C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5ACFDF-22C1-9CF8-4AFC-6DA4CC629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D499EF-48A3-4631-AA9F-39E69F578E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38673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E3395CD-6408-4B83-1B69-24733CFC7D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F492089-CB07-0559-D3C8-6C6B841D5C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A252C2-AE74-3A3C-73FC-F8E58F02F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3FF9B-A5AD-4354-BFCA-3B0FF879B822}" type="datetimeFigureOut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EE7D1B1-521F-7AF9-87B0-42D84ABA4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4DD247C-6191-70A3-9F68-32A967336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D499EF-48A3-4631-AA9F-39E69F578E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41693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49F878C-1A30-69EA-AEC1-D94A7A77B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4446BA3-F3F3-1883-92DA-345534CAC0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642558-03FD-6AD5-F973-916DD0A9AE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F3FF9B-A5AD-4354-BFCA-3B0FF879B822}" type="datetimeFigureOut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175D772-3790-B7B5-041B-3E89E2A99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9D5C4F-9250-793C-D11F-62414EBC0E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D499EF-48A3-4631-AA9F-39E69F578E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43160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7B5BF5-9BAF-E69C-C538-14F762D87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60A05E04-FEC6-1F27-29E2-76A7BFE5E4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71485" y="256142"/>
            <a:ext cx="9067582" cy="54133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lIns="92075" tIns="46037" rIns="92075" bIns="46037" anchor="ctr"/>
          <a:lstStyle/>
          <a:p>
            <a:r>
              <a:rPr lang="en-US" altLang="ko-KR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1. </a:t>
            </a:r>
            <a:r>
              <a:rPr lang="ko-KR" altLang="en-US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대표번호</a:t>
            </a:r>
            <a:r>
              <a:rPr lang="en-US" altLang="ko-KR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altLang="en-US" sz="1798" b="1" dirty="0" err="1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화웨이</a:t>
            </a:r>
            <a:r>
              <a:rPr lang="ko-KR" altLang="en-US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en-US" altLang="ko-KR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highlight>
                  <a:srgbClr val="FFFF00"/>
                </a:highlight>
                <a:latin typeface="나눔고딕" panose="020D0604000000000000" pitchFamily="50" charset="-127"/>
                <a:ea typeface="나눔고딕" panose="020D0604000000000000" pitchFamily="50" charset="-127"/>
              </a:rPr>
              <a:t>1644-2515</a:t>
            </a:r>
            <a:r>
              <a:rPr lang="en-US" altLang="ko-KR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/ STEP 1 / IVR Tree</a:t>
            </a:r>
            <a:r>
              <a:rPr lang="ko-KR" altLang="en-US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案 </a:t>
            </a:r>
            <a:r>
              <a:rPr lang="en-US" altLang="ko-KR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/ Call Flow (</a:t>
            </a:r>
            <a:r>
              <a:rPr lang="ko-KR" altLang="en-US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업무시간 </a:t>
            </a:r>
            <a:r>
              <a:rPr lang="en-US" altLang="ko-KR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: 10</a:t>
            </a:r>
            <a:r>
              <a:rPr lang="ko-KR" altLang="en-US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시 </a:t>
            </a:r>
            <a:r>
              <a:rPr lang="en-US" altLang="ko-KR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~ 17</a:t>
            </a:r>
            <a:r>
              <a:rPr lang="ko-KR" altLang="en-US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시</a:t>
            </a:r>
            <a:r>
              <a:rPr lang="en-US" altLang="ko-KR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)</a:t>
            </a:r>
            <a:endParaRPr lang="ko-KR" altLang="en-US" sz="1798" b="1" dirty="0">
              <a:ln>
                <a:solidFill>
                  <a:prstClr val="black">
                    <a:alpha val="44000"/>
                  </a:prstClr>
                </a:solidFill>
              </a:ln>
              <a:solidFill>
                <a:srgbClr val="5B85DA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1A61CB2-2838-F425-3A94-44699EE113B9}"/>
              </a:ext>
            </a:extLst>
          </p:cNvPr>
          <p:cNvSpPr/>
          <p:nvPr/>
        </p:nvSpPr>
        <p:spPr bwMode="auto">
          <a:xfrm>
            <a:off x="1502864" y="3782741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marR="0" indent="-27305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TTS4</a:t>
            </a:r>
            <a:endParaRPr kumimoji="1" lang="ko-KR" altLang="en-US" sz="900" b="1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나눔고딕" pitchFamily="2" charset="-127"/>
              <a:ea typeface="나눔고딕" pitchFamily="2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E65FDAB-ED81-2636-7A76-8DB53FBB13F3}"/>
              </a:ext>
            </a:extLst>
          </p:cNvPr>
          <p:cNvSpPr/>
          <p:nvPr/>
        </p:nvSpPr>
        <p:spPr bwMode="auto">
          <a:xfrm>
            <a:off x="2439638" y="3782740"/>
            <a:ext cx="3168352" cy="431701"/>
          </a:xfrm>
          <a:prstGeom prst="rect">
            <a:avLst/>
          </a:prstGeom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defRPr/>
            </a:pPr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더 나은 서비스 제공을 위해 </a:t>
            </a:r>
            <a:r>
              <a:rPr lang="ko-KR" altLang="en-US" sz="900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고객님과의</a:t>
            </a:r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 통화내용이 </a:t>
            </a:r>
            <a:endParaRPr lang="en-US" altLang="ko-KR" sz="9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>
              <a:defRPr/>
            </a:pPr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녹취됨을 알려드립니다</a:t>
            </a: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88811F7-9207-E09D-DA1B-5CC4CA397808}"/>
              </a:ext>
            </a:extLst>
          </p:cNvPr>
          <p:cNvSpPr/>
          <p:nvPr/>
        </p:nvSpPr>
        <p:spPr bwMode="auto">
          <a:xfrm>
            <a:off x="1502864" y="4361265"/>
            <a:ext cx="792758" cy="620614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marR="0" indent="-27305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TTS5</a:t>
            </a:r>
            <a:endParaRPr kumimoji="1" lang="ko-KR" altLang="en-US" sz="900" b="1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나눔고딕" pitchFamily="2" charset="-127"/>
              <a:ea typeface="나눔고딕" pitchFamily="2" charset="-127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E7A87BBB-79F2-0ABC-6E0B-FDA5857EA59C}"/>
              </a:ext>
            </a:extLst>
          </p:cNvPr>
          <p:cNvSpPr/>
          <p:nvPr/>
        </p:nvSpPr>
        <p:spPr bwMode="auto">
          <a:xfrm>
            <a:off x="2439638" y="4361264"/>
            <a:ext cx="3168352" cy="620615"/>
          </a:xfrm>
          <a:prstGeom prst="rect">
            <a:avLst/>
          </a:prstGeom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잠시 후 연결되는 상담사는 누군가의 소중한 가족입니다</a:t>
            </a: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산업안전 보건법에 따라 고객 응대 근로자 보호조치를 시행하고</a:t>
            </a:r>
            <a:endParaRPr lang="en-US" altLang="ko-KR" sz="9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r>
              <a:rPr lang="ko-KR" altLang="en-US" sz="900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있사오니</a:t>
            </a: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altLang="en-US" sz="900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폭언등은</a:t>
            </a:r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 삼가하여 주시기 바랍니다</a:t>
            </a: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잠시만 기다려 주십시오</a:t>
            </a: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상담원을 연결해 드리겠습니다</a:t>
            </a: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  <a:endParaRPr lang="ko-KR" altLang="en-US" sz="9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F1B40527-A083-C841-E353-8467D9B921A7}"/>
              </a:ext>
            </a:extLst>
          </p:cNvPr>
          <p:cNvSpPr/>
          <p:nvPr/>
        </p:nvSpPr>
        <p:spPr bwMode="auto">
          <a:xfrm>
            <a:off x="1502864" y="5269912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marR="0" indent="-27305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TTS6</a:t>
            </a:r>
            <a:endParaRPr kumimoji="1" lang="ko-KR" altLang="en-US" sz="900" b="1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나눔고딕" pitchFamily="2" charset="-127"/>
              <a:ea typeface="나눔고딕" pitchFamily="2" charset="-127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C2191303-31BA-A10B-8474-B617117A0ADA}"/>
              </a:ext>
            </a:extLst>
          </p:cNvPr>
          <p:cNvSpPr/>
          <p:nvPr/>
        </p:nvSpPr>
        <p:spPr bwMode="auto">
          <a:xfrm>
            <a:off x="2439638" y="5269911"/>
            <a:ext cx="3168352" cy="431701"/>
          </a:xfrm>
          <a:prstGeom prst="rect">
            <a:avLst/>
          </a:prstGeom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27013" lvl="0" indent="-227013" defTabSz="91436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sz="900" kern="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죄송합니다</a:t>
            </a:r>
            <a:r>
              <a:rPr kumimoji="0" lang="en-US" altLang="ko-KR" sz="900" kern="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  <a:r>
              <a:rPr kumimoji="0" lang="ko-KR" altLang="en-US" sz="900" kern="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지금은 모든 상담사가 통화 중으로</a:t>
            </a:r>
            <a:r>
              <a:rPr kumimoji="0" lang="en-US" altLang="ko-KR" sz="900" kern="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kumimoji="0" lang="ko-KR" altLang="en-US" sz="900" kern="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잠시만 </a:t>
            </a:r>
            <a:endParaRPr kumimoji="0" lang="en-US" altLang="ko-KR" sz="900" kern="0" dirty="0">
              <a:solidFill>
                <a:schemeClr val="tx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227013" lvl="0" indent="-227013" defTabSz="91436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sz="900" kern="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기다려 주시면 </a:t>
            </a:r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상담사를 연결해 드리겠습니다</a:t>
            </a: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57F5F87E-F732-5087-1F0A-09306528473F}"/>
              </a:ext>
            </a:extLst>
          </p:cNvPr>
          <p:cNvCxnSpPr>
            <a:cxnSpLocks/>
            <a:stCxn id="10" idx="2"/>
            <a:endCxn id="43" idx="0"/>
          </p:cNvCxnSpPr>
          <p:nvPr/>
        </p:nvCxnSpPr>
        <p:spPr>
          <a:xfrm>
            <a:off x="1899243" y="4981879"/>
            <a:ext cx="0" cy="2880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6" name="직사각형 4">
            <a:extLst>
              <a:ext uri="{FF2B5EF4-FFF2-40B4-BE49-F238E27FC236}">
                <a16:creationId xmlns:a16="http://schemas.microsoft.com/office/drawing/2014/main" id="{3811DB84-8726-F83E-1908-134C5BBA2570}"/>
              </a:ext>
            </a:extLst>
          </p:cNvPr>
          <p:cNvSpPr/>
          <p:nvPr/>
        </p:nvSpPr>
        <p:spPr>
          <a:xfrm>
            <a:off x="1974567" y="5024304"/>
            <a:ext cx="970101" cy="175473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51" dirty="0">
                <a:solidFill>
                  <a:srgbClr val="0070C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Arial" panose="020B0604020202020204" pitchFamily="34" charset="0"/>
              </a:rPr>
              <a:t>전 상담사 대기 중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8949FE0A-A62C-8AE2-95A2-CD2ECAB13F76}"/>
              </a:ext>
            </a:extLst>
          </p:cNvPr>
          <p:cNvSpPr/>
          <p:nvPr/>
        </p:nvSpPr>
        <p:spPr bwMode="auto">
          <a:xfrm>
            <a:off x="1502864" y="6062346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marR="0" indent="-27305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TTS7</a:t>
            </a:r>
            <a:endParaRPr kumimoji="1" lang="ko-KR" altLang="en-US" sz="900" b="1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나눔고딕" pitchFamily="2" charset="-127"/>
              <a:ea typeface="나눔고딕" pitchFamily="2" charset="-127"/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088010FC-6C69-B16D-FD73-ABD9456E0110}"/>
              </a:ext>
            </a:extLst>
          </p:cNvPr>
          <p:cNvSpPr/>
          <p:nvPr/>
        </p:nvSpPr>
        <p:spPr bwMode="auto">
          <a:xfrm>
            <a:off x="2439638" y="6062345"/>
            <a:ext cx="3168352" cy="431701"/>
          </a:xfrm>
          <a:prstGeom prst="rect">
            <a:avLst/>
          </a:prstGeom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defRPr/>
            </a:pPr>
            <a:r>
              <a:rPr lang="ko-KR" altLang="en-US" sz="9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죄송합니다</a:t>
            </a:r>
            <a:r>
              <a:rPr lang="en-US" altLang="ko-KR" sz="9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  <a:r>
              <a:rPr lang="ko-KR" altLang="en-US" sz="9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지금은 통화량이 많아 상담원 연결이 어렵습니다</a:t>
            </a:r>
            <a:r>
              <a:rPr lang="en-US" altLang="ko-KR" sz="9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pPr>
              <a:defRPr/>
            </a:pPr>
            <a:r>
              <a:rPr lang="ko-KR" altLang="en-US" sz="9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잠시 후에 다시 이용을 부탁드립니다</a:t>
            </a:r>
            <a:r>
              <a:rPr lang="en-US" altLang="ko-KR" sz="9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8AA4D06D-3C0B-7403-83F8-582A3486F6BB}"/>
              </a:ext>
            </a:extLst>
          </p:cNvPr>
          <p:cNvCxnSpPr>
            <a:cxnSpLocks/>
            <a:stCxn id="43" idx="2"/>
            <a:endCxn id="47" idx="0"/>
          </p:cNvCxnSpPr>
          <p:nvPr/>
        </p:nvCxnSpPr>
        <p:spPr>
          <a:xfrm>
            <a:off x="1899243" y="5701613"/>
            <a:ext cx="0" cy="3607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Rectangle 2">
            <a:extLst>
              <a:ext uri="{FF2B5EF4-FFF2-40B4-BE49-F238E27FC236}">
                <a16:creationId xmlns:a16="http://schemas.microsoft.com/office/drawing/2014/main" id="{48A0119C-E361-1FDA-301D-5A656AA30C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7397" y="908369"/>
            <a:ext cx="9067582" cy="54133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lIns="92075" tIns="46037" rIns="92075" bIns="46037" anchor="ctr"/>
          <a:lstStyle/>
          <a:p>
            <a:r>
              <a:rPr lang="ko-KR" altLang="en-US" b="1" u="sng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■ 대표번호</a:t>
            </a:r>
            <a:r>
              <a:rPr lang="en-US" altLang="ko-KR" b="1" u="sng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en-US" altLang="ko-KR" b="1" u="sng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highlight>
                  <a:srgbClr val="FFFF00"/>
                </a:highlight>
                <a:latin typeface="나눔고딕" panose="020D0604000000000000" pitchFamily="50" charset="-127"/>
                <a:ea typeface="나눔고딕" panose="020D0604000000000000" pitchFamily="50" charset="-127"/>
              </a:rPr>
              <a:t>1644-2515</a:t>
            </a:r>
            <a:r>
              <a:rPr lang="en-US" altLang="ko-KR" b="1" u="sng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altLang="en-US" b="1" u="sng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업무 시간 정상적 콜 성우 녹음 멘트 흐름도</a:t>
            </a:r>
            <a:endParaRPr lang="ko-KR" altLang="en-US" b="1" u="sng" dirty="0">
              <a:ln>
                <a:solidFill>
                  <a:prstClr val="black">
                    <a:alpha val="44000"/>
                  </a:prstClr>
                </a:solidFill>
              </a:ln>
              <a:solidFill>
                <a:srgbClr val="5B85DA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51" name="직사각형 4">
            <a:extLst>
              <a:ext uri="{FF2B5EF4-FFF2-40B4-BE49-F238E27FC236}">
                <a16:creationId xmlns:a16="http://schemas.microsoft.com/office/drawing/2014/main" id="{EF09DDA8-E92E-8732-DD12-0B4F1513FA2D}"/>
              </a:ext>
            </a:extLst>
          </p:cNvPr>
          <p:cNvSpPr/>
          <p:nvPr/>
        </p:nvSpPr>
        <p:spPr>
          <a:xfrm>
            <a:off x="1954587" y="5794242"/>
            <a:ext cx="970101" cy="175473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51" dirty="0">
                <a:solidFill>
                  <a:srgbClr val="0070C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Arial" panose="020B0604020202020204" pitchFamily="34" charset="0"/>
              </a:rPr>
              <a:t>120</a:t>
            </a:r>
            <a:r>
              <a:rPr lang="ko-KR" altLang="en-US" sz="951" dirty="0">
                <a:solidFill>
                  <a:srgbClr val="0070C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Arial" panose="020B0604020202020204" pitchFamily="34" charset="0"/>
              </a:rPr>
              <a:t>초 후에</a:t>
            </a:r>
          </a:p>
        </p:txBody>
      </p:sp>
      <p:cxnSp>
        <p:nvCxnSpPr>
          <p:cNvPr id="52" name="연결선: 꺾임 51">
            <a:extLst>
              <a:ext uri="{FF2B5EF4-FFF2-40B4-BE49-F238E27FC236}">
                <a16:creationId xmlns:a16="http://schemas.microsoft.com/office/drawing/2014/main" id="{B50609CF-2A96-F2C6-A0AB-C1F11172A6C0}"/>
              </a:ext>
            </a:extLst>
          </p:cNvPr>
          <p:cNvCxnSpPr>
            <a:cxnSpLocks/>
            <a:stCxn id="44" idx="3"/>
            <a:endCxn id="42" idx="3"/>
          </p:cNvCxnSpPr>
          <p:nvPr/>
        </p:nvCxnSpPr>
        <p:spPr>
          <a:xfrm flipV="1">
            <a:off x="5607990" y="4671572"/>
            <a:ext cx="12700" cy="814190"/>
          </a:xfrm>
          <a:prstGeom prst="bentConnector3">
            <a:avLst>
              <a:gd name="adj1" fmla="val 180000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headEnd type="triangle"/>
            <a:tailEnd type="triangle"/>
          </a:ln>
          <a:effectLst/>
        </p:spPr>
      </p:cxnSp>
      <p:sp>
        <p:nvSpPr>
          <p:cNvPr id="53" name="직사각형 4">
            <a:extLst>
              <a:ext uri="{FF2B5EF4-FFF2-40B4-BE49-F238E27FC236}">
                <a16:creationId xmlns:a16="http://schemas.microsoft.com/office/drawing/2014/main" id="{7C3F98FF-F480-31E3-74A0-1739CFE1064A}"/>
              </a:ext>
            </a:extLst>
          </p:cNvPr>
          <p:cNvSpPr/>
          <p:nvPr/>
        </p:nvSpPr>
        <p:spPr>
          <a:xfrm>
            <a:off x="5466316" y="5052652"/>
            <a:ext cx="970101" cy="175473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51" dirty="0">
                <a:solidFill>
                  <a:srgbClr val="0070C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Arial" panose="020B0604020202020204" pitchFamily="34" charset="0"/>
              </a:rPr>
              <a:t>120</a:t>
            </a:r>
            <a:r>
              <a:rPr lang="ko-KR" altLang="en-US" sz="951" dirty="0">
                <a:solidFill>
                  <a:srgbClr val="0070C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Arial" panose="020B0604020202020204" pitchFamily="34" charset="0"/>
              </a:rPr>
              <a:t>초 상담사 연결 대기</a:t>
            </a:r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581B2E2B-6FF3-6B15-0540-CA3933C3377A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1899243" y="2542040"/>
            <a:ext cx="0" cy="124070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연결선: 꺾임 54">
            <a:extLst>
              <a:ext uri="{FF2B5EF4-FFF2-40B4-BE49-F238E27FC236}">
                <a16:creationId xmlns:a16="http://schemas.microsoft.com/office/drawing/2014/main" id="{484E4605-81CF-F8FD-ADEA-5EF3B76A2DF8}"/>
              </a:ext>
            </a:extLst>
          </p:cNvPr>
          <p:cNvCxnSpPr>
            <a:cxnSpLocks/>
            <a:stCxn id="44" idx="3"/>
          </p:cNvCxnSpPr>
          <p:nvPr/>
        </p:nvCxnSpPr>
        <p:spPr>
          <a:xfrm flipV="1">
            <a:off x="5607990" y="1757488"/>
            <a:ext cx="1202685" cy="3728274"/>
          </a:xfrm>
          <a:prstGeom prst="bentConnector3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84B23774-3D9F-D4D1-4DAD-78C239A71BAB}"/>
              </a:ext>
            </a:extLst>
          </p:cNvPr>
          <p:cNvSpPr/>
          <p:nvPr/>
        </p:nvSpPr>
        <p:spPr bwMode="auto">
          <a:xfrm>
            <a:off x="1502864" y="1526166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marR="0" indent="-27305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TTS1</a:t>
            </a:r>
            <a:endParaRPr kumimoji="1" lang="ko-KR" altLang="en-US" sz="900" b="1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나눔고딕" pitchFamily="2" charset="-127"/>
              <a:ea typeface="나눔고딕" pitchFamily="2" charset="-127"/>
            </a:endParaRPr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9AF13253-E9AD-E45E-7E6E-7C1B2C139562}"/>
              </a:ext>
            </a:extLst>
          </p:cNvPr>
          <p:cNvCxnSpPr>
            <a:cxnSpLocks/>
            <a:stCxn id="56" idx="2"/>
          </p:cNvCxnSpPr>
          <p:nvPr/>
        </p:nvCxnSpPr>
        <p:spPr>
          <a:xfrm>
            <a:off x="1899243" y="1957867"/>
            <a:ext cx="0" cy="1524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CEED356F-0F51-B4D7-76A1-B5FC08DEED0F}"/>
              </a:ext>
            </a:extLst>
          </p:cNvPr>
          <p:cNvSpPr/>
          <p:nvPr/>
        </p:nvSpPr>
        <p:spPr bwMode="auto">
          <a:xfrm>
            <a:off x="6810675" y="1541637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marR="0" indent="-27305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TT8-4</a:t>
            </a:r>
            <a:endParaRPr kumimoji="1" lang="ko-KR" altLang="en-US" sz="900" b="1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나눔고딕" pitchFamily="2" charset="-127"/>
              <a:ea typeface="나눔고딕" pitchFamily="2" charset="-12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6D2C799-B80F-3765-658D-3F864EC52CE6}"/>
              </a:ext>
            </a:extLst>
          </p:cNvPr>
          <p:cNvSpPr txBox="1"/>
          <p:nvPr/>
        </p:nvSpPr>
        <p:spPr>
          <a:xfrm>
            <a:off x="5785644" y="1619494"/>
            <a:ext cx="62068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dirty="0" err="1">
                <a:solidFill>
                  <a:schemeClr val="dk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대기멘트</a:t>
            </a:r>
            <a:endParaRPr lang="ko-KR" altLang="en-US" sz="900" dirty="0">
              <a:solidFill>
                <a:schemeClr val="dk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F9B13AD6-3B83-64C6-3207-6D246826914E}"/>
              </a:ext>
            </a:extLst>
          </p:cNvPr>
          <p:cNvSpPr/>
          <p:nvPr/>
        </p:nvSpPr>
        <p:spPr bwMode="auto">
          <a:xfrm>
            <a:off x="1502864" y="1526166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marR="0" indent="-27305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TTS1</a:t>
            </a:r>
            <a:endParaRPr kumimoji="1" lang="ko-KR" altLang="en-US" sz="900" b="1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나눔고딕" pitchFamily="2" charset="-127"/>
              <a:ea typeface="나눔고딕" pitchFamily="2" charset="-127"/>
            </a:endParaRPr>
          </a:p>
        </p:txBody>
      </p: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AD8E39C8-7934-F7C7-FB88-F0B66C887E7F}"/>
              </a:ext>
            </a:extLst>
          </p:cNvPr>
          <p:cNvCxnSpPr>
            <a:cxnSpLocks/>
            <a:stCxn id="61" idx="2"/>
          </p:cNvCxnSpPr>
          <p:nvPr/>
        </p:nvCxnSpPr>
        <p:spPr>
          <a:xfrm>
            <a:off x="1899243" y="1957867"/>
            <a:ext cx="0" cy="1524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14364D2B-CEFB-FE76-07D1-39F36D8C8249}"/>
              </a:ext>
            </a:extLst>
          </p:cNvPr>
          <p:cNvSpPr/>
          <p:nvPr/>
        </p:nvSpPr>
        <p:spPr bwMode="auto">
          <a:xfrm>
            <a:off x="6810675" y="1541637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marR="0" indent="-27305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TT8-4</a:t>
            </a:r>
            <a:endParaRPr kumimoji="1" lang="ko-KR" altLang="en-US" sz="900" b="1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나눔고딕" pitchFamily="2" charset="-127"/>
              <a:ea typeface="나눔고딕" pitchFamily="2" charset="-127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92DEAA2-0ECA-EA15-02B3-73B7315B6D02}"/>
              </a:ext>
            </a:extLst>
          </p:cNvPr>
          <p:cNvSpPr txBox="1"/>
          <p:nvPr/>
        </p:nvSpPr>
        <p:spPr>
          <a:xfrm>
            <a:off x="5785644" y="1619494"/>
            <a:ext cx="62068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dirty="0" err="1">
                <a:solidFill>
                  <a:schemeClr val="dk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대기멘트</a:t>
            </a:r>
            <a:endParaRPr lang="ko-KR" altLang="en-US" sz="900" dirty="0">
              <a:solidFill>
                <a:schemeClr val="dk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72EB6D80-BA33-518F-FCEC-CDFCBF1BACE3}"/>
              </a:ext>
            </a:extLst>
          </p:cNvPr>
          <p:cNvSpPr/>
          <p:nvPr/>
        </p:nvSpPr>
        <p:spPr bwMode="auto">
          <a:xfrm>
            <a:off x="1494584" y="1521129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marR="0" indent="-27305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TTS1</a:t>
            </a:r>
            <a:endParaRPr kumimoji="1" lang="ko-KR" altLang="en-US" sz="900" b="1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나눔고딕" pitchFamily="2" charset="-127"/>
              <a:ea typeface="나눔고딕" pitchFamily="2" charset="-127"/>
            </a:endParaRP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2B78B7EC-8E66-1808-5FC6-A447372E21D0}"/>
              </a:ext>
            </a:extLst>
          </p:cNvPr>
          <p:cNvSpPr/>
          <p:nvPr/>
        </p:nvSpPr>
        <p:spPr bwMode="auto">
          <a:xfrm>
            <a:off x="2407718" y="1521128"/>
            <a:ext cx="3168352" cy="431701"/>
          </a:xfrm>
          <a:prstGeom prst="rect">
            <a:avLst/>
          </a:prstGeom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900" dirty="0">
                <a:highlight>
                  <a:srgbClr val="FFFF00"/>
                </a:highlight>
                <a:latin typeface="나눔고딕" pitchFamily="2" charset="-127"/>
                <a:ea typeface="나눔고딕" pitchFamily="2" charset="-127"/>
              </a:rPr>
              <a:t>안녕하세요</a:t>
            </a:r>
            <a:r>
              <a:rPr lang="en-US" altLang="ko-KR" sz="900" dirty="0">
                <a:highlight>
                  <a:srgbClr val="FFFF00"/>
                </a:highlight>
                <a:latin typeface="나눔고딕" pitchFamily="2" charset="-127"/>
                <a:ea typeface="나눔고딕" pitchFamily="2" charset="-127"/>
              </a:rPr>
              <a:t>, </a:t>
            </a:r>
            <a:r>
              <a:rPr lang="ko-KR" altLang="en-US" sz="900" dirty="0" err="1">
                <a:highlight>
                  <a:srgbClr val="FFFF00"/>
                </a:highlight>
                <a:latin typeface="나눔고딕" pitchFamily="2" charset="-127"/>
                <a:ea typeface="나눔고딕" pitchFamily="2" charset="-127"/>
              </a:rPr>
              <a:t>화웨이</a:t>
            </a:r>
            <a:r>
              <a:rPr lang="ko-KR" altLang="en-US" sz="900" dirty="0">
                <a:highlight>
                  <a:srgbClr val="FFFF00"/>
                </a:highlight>
                <a:latin typeface="나눔고딕" pitchFamily="2" charset="-127"/>
                <a:ea typeface="나눔고딕" pitchFamily="2" charset="-127"/>
              </a:rPr>
              <a:t> </a:t>
            </a:r>
            <a:r>
              <a:rPr lang="ko-KR" altLang="en-US" sz="900" dirty="0" err="1">
                <a:highlight>
                  <a:srgbClr val="FFFF00"/>
                </a:highlight>
                <a:latin typeface="나눔고딕" pitchFamily="2" charset="-127"/>
                <a:ea typeface="나눔고딕" pitchFamily="2" charset="-127"/>
              </a:rPr>
              <a:t>디바이스코리아</a:t>
            </a:r>
            <a:r>
              <a:rPr lang="ko-KR" altLang="en-US" sz="900" dirty="0">
                <a:highlight>
                  <a:srgbClr val="FFFF00"/>
                </a:highlight>
                <a:latin typeface="나눔고딕" pitchFamily="2" charset="-127"/>
                <a:ea typeface="나눔고딕" pitchFamily="2" charset="-127"/>
              </a:rPr>
              <a:t> 고객센터입니다</a:t>
            </a:r>
            <a:r>
              <a:rPr lang="en-US" altLang="ko-KR" sz="900" dirty="0">
                <a:highlight>
                  <a:srgbClr val="FFFF00"/>
                </a:highlight>
                <a:latin typeface="나눔고딕" pitchFamily="2" charset="-127"/>
                <a:ea typeface="나눔고딕" pitchFamily="2" charset="-127"/>
              </a:rPr>
              <a:t>. </a:t>
            </a:r>
            <a:endParaRPr lang="ko-KR" altLang="en-US" sz="900" dirty="0">
              <a:highlight>
                <a:srgbClr val="FFFF00"/>
              </a:highlight>
              <a:latin typeface="나눔고딕" pitchFamily="2" charset="-127"/>
              <a:ea typeface="나눔고딕" pitchFamily="2" charset="-127"/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B564F377-48C4-EBD2-3962-3698E5DA9A3F}"/>
              </a:ext>
            </a:extLst>
          </p:cNvPr>
          <p:cNvCxnSpPr>
            <a:cxnSpLocks/>
            <a:stCxn id="66" idx="2"/>
            <a:endCxn id="3" idx="0"/>
          </p:cNvCxnSpPr>
          <p:nvPr/>
        </p:nvCxnSpPr>
        <p:spPr>
          <a:xfrm>
            <a:off x="1890963" y="1952830"/>
            <a:ext cx="8280" cy="182991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B6986CB1-5B73-C98B-8F7A-456B948D1EB0}"/>
              </a:ext>
            </a:extLst>
          </p:cNvPr>
          <p:cNvSpPr/>
          <p:nvPr/>
        </p:nvSpPr>
        <p:spPr bwMode="auto">
          <a:xfrm>
            <a:off x="7708920" y="1552315"/>
            <a:ext cx="3168352" cy="431701"/>
          </a:xfrm>
          <a:prstGeom prst="rect">
            <a:avLst/>
          </a:prstGeom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defRPr/>
            </a:pPr>
            <a:r>
              <a:rPr lang="ko-KR" altLang="en-US" sz="900" dirty="0" err="1">
                <a:highlight>
                  <a:srgbClr val="FFFF00"/>
                </a:highlight>
                <a:latin typeface="나눔고딕" pitchFamily="2" charset="-127"/>
                <a:ea typeface="나눔고딕" pitchFamily="2" charset="-127"/>
              </a:rPr>
              <a:t>화웨이</a:t>
            </a:r>
            <a:r>
              <a:rPr lang="ko-KR" altLang="en-US" sz="900" dirty="0">
                <a:highlight>
                  <a:srgbClr val="FFFF00"/>
                </a:highlight>
                <a:latin typeface="나눔고딕" pitchFamily="2" charset="-127"/>
                <a:ea typeface="나눔고딕" pitchFamily="2" charset="-127"/>
              </a:rPr>
              <a:t> </a:t>
            </a:r>
            <a:r>
              <a:rPr lang="ko-KR" altLang="en-US" sz="900" dirty="0" err="1">
                <a:highlight>
                  <a:srgbClr val="FFFF00"/>
                </a:highlight>
                <a:latin typeface="나눔고딕" pitchFamily="2" charset="-127"/>
                <a:ea typeface="나눔고딕" pitchFamily="2" charset="-127"/>
              </a:rPr>
              <a:t>디바이스코리아</a:t>
            </a:r>
            <a:r>
              <a:rPr lang="ko-KR" altLang="en-US" sz="900" dirty="0">
                <a:highlight>
                  <a:srgbClr val="FFFF00"/>
                </a:highlight>
                <a:latin typeface="나눔고딕" pitchFamily="2" charset="-127"/>
                <a:ea typeface="나눔고딕" pitchFamily="2" charset="-127"/>
              </a:rPr>
              <a:t> 고객센터입니다 </a:t>
            </a:r>
            <a:endParaRPr lang="en-US" altLang="ko-KR" sz="900" dirty="0">
              <a:highlight>
                <a:srgbClr val="FFFF00"/>
              </a:highlight>
              <a:latin typeface="나눔고딕" pitchFamily="2" charset="-127"/>
              <a:ea typeface="나눔고딕" pitchFamily="2" charset="-127"/>
            </a:endParaRPr>
          </a:p>
          <a:p>
            <a:pPr>
              <a:defRPr/>
            </a:pPr>
            <a:r>
              <a:rPr lang="ko-KR" altLang="en-US" sz="900" dirty="0">
                <a:highlight>
                  <a:srgbClr val="FFFF00"/>
                </a:highlight>
                <a:latin typeface="나눔고딕" panose="020D0604000000000000" pitchFamily="50" charset="-127"/>
                <a:ea typeface="나눔고딕" panose="020D0604000000000000" pitchFamily="50" charset="-127"/>
              </a:rPr>
              <a:t>잠시만 기다려 주시면 상담원을 연결해 드리겠습니다</a:t>
            </a:r>
            <a:r>
              <a:rPr lang="en-US" altLang="ko-KR" sz="900" dirty="0">
                <a:highlight>
                  <a:srgbClr val="FFFF00"/>
                </a:highlight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C80477CD-AEC1-20A5-C854-09B079FF6BA1}"/>
              </a:ext>
            </a:extLst>
          </p:cNvPr>
          <p:cNvSpPr/>
          <p:nvPr/>
        </p:nvSpPr>
        <p:spPr bwMode="auto">
          <a:xfrm>
            <a:off x="6802395" y="1536600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marR="0" indent="-27305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TT8-4</a:t>
            </a:r>
            <a:endParaRPr kumimoji="1" lang="ko-KR" altLang="en-US" sz="900" b="1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나눔고딕" pitchFamily="2" charset="-127"/>
              <a:ea typeface="나눔고딕" pitchFamily="2" charset="-127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8C13A2B-54B2-2FD1-8890-939D0402550C}"/>
              </a:ext>
            </a:extLst>
          </p:cNvPr>
          <p:cNvSpPr txBox="1"/>
          <p:nvPr/>
        </p:nvSpPr>
        <p:spPr>
          <a:xfrm>
            <a:off x="5777364" y="1614457"/>
            <a:ext cx="62068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dirty="0" err="1">
                <a:solidFill>
                  <a:schemeClr val="dk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대기멘트</a:t>
            </a:r>
            <a:endParaRPr lang="ko-KR" altLang="en-US" sz="900" dirty="0">
              <a:solidFill>
                <a:schemeClr val="dk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8C07BD76-6927-CE7A-FD09-B391754D0D99}"/>
              </a:ext>
            </a:extLst>
          </p:cNvPr>
          <p:cNvSpPr/>
          <p:nvPr/>
        </p:nvSpPr>
        <p:spPr bwMode="auto">
          <a:xfrm>
            <a:off x="1494584" y="2105302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marR="0" indent="-27305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TTS2-1</a:t>
            </a:r>
            <a:endParaRPr kumimoji="1" lang="ko-KR" altLang="en-US" sz="900" b="1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나눔고딕" pitchFamily="2" charset="-127"/>
              <a:ea typeface="나눔고딕" pitchFamily="2" charset="-127"/>
            </a:endParaRPr>
          </a:p>
        </p:txBody>
      </p:sp>
      <p:sp>
        <p:nvSpPr>
          <p:cNvPr id="112" name="직사각형 111">
            <a:extLst>
              <a:ext uri="{FF2B5EF4-FFF2-40B4-BE49-F238E27FC236}">
                <a16:creationId xmlns:a16="http://schemas.microsoft.com/office/drawing/2014/main" id="{7B873594-BA94-B1F5-B9A6-863C2A2F5876}"/>
              </a:ext>
            </a:extLst>
          </p:cNvPr>
          <p:cNvSpPr/>
          <p:nvPr/>
        </p:nvSpPr>
        <p:spPr bwMode="auto">
          <a:xfrm>
            <a:off x="2439638" y="2096083"/>
            <a:ext cx="3168352" cy="431701"/>
          </a:xfrm>
          <a:prstGeom prst="rect">
            <a:avLst/>
          </a:prstGeom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defRPr/>
            </a:pPr>
            <a:r>
              <a:rPr lang="ko-KR" altLang="en-US" sz="900" dirty="0">
                <a:latin typeface="나눔고딕" pitchFamily="2" charset="-127"/>
                <a:ea typeface="나눔고딕" pitchFamily="2" charset="-127"/>
              </a:rPr>
              <a:t>잠시만 기다려 주시면 상담원을 연결해 드리겠습니다</a:t>
            </a:r>
            <a:endParaRPr lang="en-US" altLang="ko-KR" sz="900" strike="sngStrike" dirty="0">
              <a:solidFill>
                <a:schemeClr val="tx1"/>
              </a:solidFill>
              <a:latin typeface="나눔고딕" pitchFamily="2" charset="-127"/>
              <a:ea typeface="나눔고딕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65641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73311ADB-7183-B644-81FE-98FA5B90FE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71485" y="256142"/>
            <a:ext cx="9067582" cy="54133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lIns="92075" tIns="46037" rIns="92075" bIns="46037" anchor="ctr"/>
          <a:lstStyle/>
          <a:p>
            <a:r>
              <a:rPr lang="en-US" altLang="ko-KR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1. </a:t>
            </a:r>
            <a:r>
              <a:rPr lang="ko-KR" altLang="en-US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대표번호</a:t>
            </a:r>
            <a:r>
              <a:rPr lang="en-US" altLang="ko-KR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altLang="en-US" sz="1798" b="1" dirty="0" err="1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레이레이</a:t>
            </a:r>
            <a:r>
              <a:rPr lang="ko-KR" altLang="en-US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en-US" altLang="ko-KR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highlight>
                  <a:srgbClr val="FFFF00"/>
                </a:highlight>
                <a:latin typeface="나눔고딕" panose="020D0604000000000000" pitchFamily="50" charset="-127"/>
                <a:ea typeface="나눔고딕" panose="020D0604000000000000" pitchFamily="50" charset="-127"/>
              </a:rPr>
              <a:t>1660-2898</a:t>
            </a:r>
            <a:r>
              <a:rPr lang="en-US" altLang="ko-KR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/ STEP 1 / IVR Tree</a:t>
            </a:r>
            <a:r>
              <a:rPr lang="ko-KR" altLang="en-US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案 </a:t>
            </a:r>
            <a:r>
              <a:rPr lang="en-US" altLang="ko-KR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/ Call Flow (</a:t>
            </a:r>
            <a:r>
              <a:rPr lang="ko-KR" altLang="en-US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업무시간 </a:t>
            </a:r>
            <a:r>
              <a:rPr lang="en-US" altLang="ko-KR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: 10</a:t>
            </a:r>
            <a:r>
              <a:rPr lang="ko-KR" altLang="en-US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시 </a:t>
            </a:r>
            <a:r>
              <a:rPr lang="en-US" altLang="ko-KR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~ 17</a:t>
            </a:r>
            <a:r>
              <a:rPr lang="ko-KR" altLang="en-US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시</a:t>
            </a:r>
            <a:r>
              <a:rPr lang="en-US" altLang="ko-KR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)</a:t>
            </a:r>
            <a:endParaRPr lang="ko-KR" altLang="en-US" sz="1798" b="1" dirty="0">
              <a:ln>
                <a:solidFill>
                  <a:prstClr val="black">
                    <a:alpha val="44000"/>
                  </a:prstClr>
                </a:solidFill>
              </a:ln>
              <a:solidFill>
                <a:srgbClr val="5B85DA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673E070-EA25-C6F2-B714-5A88E6E022CB}"/>
              </a:ext>
            </a:extLst>
          </p:cNvPr>
          <p:cNvSpPr/>
          <p:nvPr/>
        </p:nvSpPr>
        <p:spPr bwMode="auto">
          <a:xfrm>
            <a:off x="1502864" y="3782741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marR="0" indent="-27305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TTS4</a:t>
            </a:r>
            <a:endParaRPr kumimoji="1" lang="ko-KR" altLang="en-US" sz="900" b="1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나눔고딕" pitchFamily="2" charset="-127"/>
              <a:ea typeface="나눔고딕" pitchFamily="2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EEEB12E-1AAA-3337-A2A3-CB59A0E66A06}"/>
              </a:ext>
            </a:extLst>
          </p:cNvPr>
          <p:cNvSpPr/>
          <p:nvPr/>
        </p:nvSpPr>
        <p:spPr bwMode="auto">
          <a:xfrm>
            <a:off x="2439638" y="3782740"/>
            <a:ext cx="3168352" cy="431701"/>
          </a:xfrm>
          <a:prstGeom prst="rect">
            <a:avLst/>
          </a:prstGeom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defRPr/>
            </a:pPr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더 나은 서비스 제공을 위해 </a:t>
            </a:r>
            <a:r>
              <a:rPr lang="ko-KR" altLang="en-US" sz="900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고객님과의</a:t>
            </a:r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 통화내용이 </a:t>
            </a:r>
            <a:endParaRPr lang="en-US" altLang="ko-KR" sz="9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>
              <a:defRPr/>
            </a:pPr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녹취됨을 알려드립니다</a:t>
            </a: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5AB7958-CC8C-5CCB-9F54-9F668F9AE3E5}"/>
              </a:ext>
            </a:extLst>
          </p:cNvPr>
          <p:cNvSpPr/>
          <p:nvPr/>
        </p:nvSpPr>
        <p:spPr bwMode="auto">
          <a:xfrm>
            <a:off x="1502864" y="4361265"/>
            <a:ext cx="792758" cy="620614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marR="0" indent="-27305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TTS5</a:t>
            </a:r>
            <a:endParaRPr kumimoji="1" lang="ko-KR" altLang="en-US" sz="900" b="1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나눔고딕" pitchFamily="2" charset="-127"/>
              <a:ea typeface="나눔고딕" pitchFamily="2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63C79F5-F2BD-A19A-9753-3431ED0DD04B}"/>
              </a:ext>
            </a:extLst>
          </p:cNvPr>
          <p:cNvSpPr/>
          <p:nvPr/>
        </p:nvSpPr>
        <p:spPr bwMode="auto">
          <a:xfrm>
            <a:off x="2439638" y="4361264"/>
            <a:ext cx="3168352" cy="620615"/>
          </a:xfrm>
          <a:prstGeom prst="rect">
            <a:avLst/>
          </a:prstGeom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잠시 후 연결되는 상담사는 누군가의 소중한 가족입니다</a:t>
            </a: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산업안전 보건법에 따라 고객 응대 근로자 보호조치를 시행하고</a:t>
            </a:r>
            <a:endParaRPr lang="en-US" altLang="ko-KR" sz="9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r>
              <a:rPr lang="ko-KR" altLang="en-US" sz="900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있사오니</a:t>
            </a: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altLang="en-US" sz="900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폭언등은</a:t>
            </a:r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 삼가하여 주시기 바랍니다</a:t>
            </a: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잠시만 기다려 주십시오</a:t>
            </a: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상담원을 연결해 드리겠습니다</a:t>
            </a: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  <a:endParaRPr lang="ko-KR" altLang="en-US" sz="9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AA304D9-9671-1BA9-DDDE-D8C25F039CA6}"/>
              </a:ext>
            </a:extLst>
          </p:cNvPr>
          <p:cNvSpPr/>
          <p:nvPr/>
        </p:nvSpPr>
        <p:spPr bwMode="auto">
          <a:xfrm>
            <a:off x="1502864" y="5269912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marR="0" indent="-27305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TTS6</a:t>
            </a:r>
            <a:endParaRPr kumimoji="1" lang="ko-KR" altLang="en-US" sz="900" b="1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나눔고딕" pitchFamily="2" charset="-127"/>
              <a:ea typeface="나눔고딕" pitchFamily="2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AB2DAED-2862-B085-0DAC-04D759668D4B}"/>
              </a:ext>
            </a:extLst>
          </p:cNvPr>
          <p:cNvSpPr/>
          <p:nvPr/>
        </p:nvSpPr>
        <p:spPr bwMode="auto">
          <a:xfrm>
            <a:off x="2439638" y="5269911"/>
            <a:ext cx="3168352" cy="431701"/>
          </a:xfrm>
          <a:prstGeom prst="rect">
            <a:avLst/>
          </a:prstGeom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27013" lvl="0" indent="-227013" defTabSz="91436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sz="900" kern="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죄송합니다</a:t>
            </a:r>
            <a:r>
              <a:rPr kumimoji="0" lang="en-US" altLang="ko-KR" sz="900" kern="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  <a:r>
              <a:rPr kumimoji="0" lang="ko-KR" altLang="en-US" sz="900" kern="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지금은 모든 상담사가 통화 중으로</a:t>
            </a:r>
            <a:r>
              <a:rPr kumimoji="0" lang="en-US" altLang="ko-KR" sz="900" kern="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kumimoji="0" lang="ko-KR" altLang="en-US" sz="900" kern="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잠시만 </a:t>
            </a:r>
            <a:endParaRPr kumimoji="0" lang="en-US" altLang="ko-KR" sz="900" kern="0" dirty="0">
              <a:solidFill>
                <a:schemeClr val="tx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227013" lvl="0" indent="-227013" defTabSz="91436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sz="900" kern="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기다려 주시면 </a:t>
            </a:r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상담사를 연결해 드리겠습니다</a:t>
            </a: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A8989DBD-9135-61F7-E959-6B24220F799F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>
            <a:off x="1899243" y="4981879"/>
            <a:ext cx="0" cy="2880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" name="직사각형 4">
            <a:extLst>
              <a:ext uri="{FF2B5EF4-FFF2-40B4-BE49-F238E27FC236}">
                <a16:creationId xmlns:a16="http://schemas.microsoft.com/office/drawing/2014/main" id="{B040BDBB-1FDE-6D6E-A87A-DC061D79A34D}"/>
              </a:ext>
            </a:extLst>
          </p:cNvPr>
          <p:cNvSpPr/>
          <p:nvPr/>
        </p:nvSpPr>
        <p:spPr>
          <a:xfrm>
            <a:off x="1974567" y="5024304"/>
            <a:ext cx="970101" cy="175473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51" dirty="0">
                <a:solidFill>
                  <a:srgbClr val="0070C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Arial" panose="020B0604020202020204" pitchFamily="34" charset="0"/>
              </a:rPr>
              <a:t>전 상담사 대기 중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69F71BB7-CFB5-9FD1-BDD7-624DE3302E95}"/>
              </a:ext>
            </a:extLst>
          </p:cNvPr>
          <p:cNvSpPr/>
          <p:nvPr/>
        </p:nvSpPr>
        <p:spPr bwMode="auto">
          <a:xfrm>
            <a:off x="1502864" y="6062346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marR="0" indent="-27305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TTS7</a:t>
            </a:r>
            <a:endParaRPr kumimoji="1" lang="ko-KR" altLang="en-US" sz="900" b="1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나눔고딕" pitchFamily="2" charset="-127"/>
              <a:ea typeface="나눔고딕" pitchFamily="2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52DE476-650E-4DA5-996D-AA65D68BF793}"/>
              </a:ext>
            </a:extLst>
          </p:cNvPr>
          <p:cNvSpPr/>
          <p:nvPr/>
        </p:nvSpPr>
        <p:spPr bwMode="auto">
          <a:xfrm>
            <a:off x="2439638" y="6062345"/>
            <a:ext cx="3168352" cy="431701"/>
          </a:xfrm>
          <a:prstGeom prst="rect">
            <a:avLst/>
          </a:prstGeom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defRPr/>
            </a:pPr>
            <a:r>
              <a:rPr lang="ko-KR" altLang="en-US" sz="9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죄송합니다</a:t>
            </a:r>
            <a:r>
              <a:rPr lang="en-US" altLang="ko-KR" sz="9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  <a:r>
              <a:rPr lang="ko-KR" altLang="en-US" sz="9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지금은 통화량이 많아 상담원 연결이 어렵습니다</a:t>
            </a:r>
            <a:r>
              <a:rPr lang="en-US" altLang="ko-KR" sz="9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pPr>
              <a:defRPr/>
            </a:pPr>
            <a:r>
              <a:rPr lang="ko-KR" altLang="en-US" sz="9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잠시 후에 다시 이용을 부탁드립니다</a:t>
            </a:r>
            <a:r>
              <a:rPr lang="en-US" altLang="ko-KR" sz="9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5E7DA216-7747-C6FE-AEB6-312A988D0A02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>
            <a:off x="1899243" y="5701613"/>
            <a:ext cx="0" cy="3607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" name="Rectangle 2">
            <a:extLst>
              <a:ext uri="{FF2B5EF4-FFF2-40B4-BE49-F238E27FC236}">
                <a16:creationId xmlns:a16="http://schemas.microsoft.com/office/drawing/2014/main" id="{9B8B7D01-3FB5-0E32-A69C-2445250829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7397" y="908369"/>
            <a:ext cx="9067582" cy="54133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lIns="92075" tIns="46037" rIns="92075" bIns="46037" anchor="ctr"/>
          <a:lstStyle/>
          <a:p>
            <a:r>
              <a:rPr lang="ko-KR" altLang="en-US" b="1" u="sng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■ 대표번호</a:t>
            </a:r>
            <a:r>
              <a:rPr lang="en-US" altLang="ko-KR" b="1" u="sng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en-US" altLang="ko-KR" b="1" u="sng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highlight>
                  <a:srgbClr val="FFFF00"/>
                </a:highlight>
                <a:latin typeface="나눔고딕" panose="020D0604000000000000" pitchFamily="50" charset="-127"/>
                <a:ea typeface="나눔고딕" panose="020D0604000000000000" pitchFamily="50" charset="-127"/>
              </a:rPr>
              <a:t>1660-2898</a:t>
            </a:r>
            <a:r>
              <a:rPr lang="en-US" altLang="ko-KR" b="1" u="sng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altLang="en-US" b="1" u="sng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업무 시간 정상적 콜 성우 녹음 멘트 흐름도</a:t>
            </a:r>
            <a:endParaRPr lang="ko-KR" altLang="en-US" b="1" u="sng" dirty="0">
              <a:ln>
                <a:solidFill>
                  <a:prstClr val="black">
                    <a:alpha val="44000"/>
                  </a:prstClr>
                </a:solidFill>
              </a:ln>
              <a:solidFill>
                <a:srgbClr val="5B85DA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9" name="직사각형 4">
            <a:extLst>
              <a:ext uri="{FF2B5EF4-FFF2-40B4-BE49-F238E27FC236}">
                <a16:creationId xmlns:a16="http://schemas.microsoft.com/office/drawing/2014/main" id="{6CE5C97F-2B86-3B47-B2EB-0EC818A3ECC7}"/>
              </a:ext>
            </a:extLst>
          </p:cNvPr>
          <p:cNvSpPr/>
          <p:nvPr/>
        </p:nvSpPr>
        <p:spPr>
          <a:xfrm>
            <a:off x="1954587" y="5794242"/>
            <a:ext cx="970101" cy="175473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51" dirty="0">
                <a:solidFill>
                  <a:srgbClr val="0070C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Arial" panose="020B0604020202020204" pitchFamily="34" charset="0"/>
              </a:rPr>
              <a:t>120</a:t>
            </a:r>
            <a:r>
              <a:rPr lang="ko-KR" altLang="en-US" sz="951" dirty="0">
                <a:solidFill>
                  <a:srgbClr val="0070C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Arial" panose="020B0604020202020204" pitchFamily="34" charset="0"/>
              </a:rPr>
              <a:t>초 후에</a:t>
            </a:r>
          </a:p>
        </p:txBody>
      </p:sp>
      <p:cxnSp>
        <p:nvCxnSpPr>
          <p:cNvPr id="20" name="연결선: 꺾임 19">
            <a:extLst>
              <a:ext uri="{FF2B5EF4-FFF2-40B4-BE49-F238E27FC236}">
                <a16:creationId xmlns:a16="http://schemas.microsoft.com/office/drawing/2014/main" id="{65802155-219C-637F-D3DE-ED773A7938C2}"/>
              </a:ext>
            </a:extLst>
          </p:cNvPr>
          <p:cNvCxnSpPr>
            <a:cxnSpLocks/>
            <a:stCxn id="12" idx="3"/>
            <a:endCxn id="8" idx="3"/>
          </p:cNvCxnSpPr>
          <p:nvPr/>
        </p:nvCxnSpPr>
        <p:spPr>
          <a:xfrm flipV="1">
            <a:off x="5607990" y="4671572"/>
            <a:ext cx="12700" cy="814190"/>
          </a:xfrm>
          <a:prstGeom prst="bentConnector3">
            <a:avLst>
              <a:gd name="adj1" fmla="val 180000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headEnd type="triangle"/>
            <a:tailEnd type="triangle"/>
          </a:ln>
          <a:effectLst/>
        </p:spPr>
      </p:cxnSp>
      <p:sp>
        <p:nvSpPr>
          <p:cNvPr id="21" name="직사각형 4">
            <a:extLst>
              <a:ext uri="{FF2B5EF4-FFF2-40B4-BE49-F238E27FC236}">
                <a16:creationId xmlns:a16="http://schemas.microsoft.com/office/drawing/2014/main" id="{1BF82E3A-F5F3-E3F4-83D1-B876B6CDAA8F}"/>
              </a:ext>
            </a:extLst>
          </p:cNvPr>
          <p:cNvSpPr/>
          <p:nvPr/>
        </p:nvSpPr>
        <p:spPr>
          <a:xfrm>
            <a:off x="5466316" y="5052652"/>
            <a:ext cx="970101" cy="175473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51" dirty="0">
                <a:solidFill>
                  <a:srgbClr val="0070C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Arial" panose="020B0604020202020204" pitchFamily="34" charset="0"/>
              </a:rPr>
              <a:t>120</a:t>
            </a:r>
            <a:r>
              <a:rPr lang="ko-KR" altLang="en-US" sz="951" dirty="0">
                <a:solidFill>
                  <a:srgbClr val="0070C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Arial" panose="020B0604020202020204" pitchFamily="34" charset="0"/>
              </a:rPr>
              <a:t>초 상담사 연결 대기</a:t>
            </a:r>
          </a:p>
        </p:txBody>
      </p: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46AB1EA4-5017-E599-CC60-34C3BEA4FBAD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1899243" y="2542040"/>
            <a:ext cx="0" cy="124070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B92CBBE3-9D2C-F66D-5528-2F46161B0B36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5607990" y="1757488"/>
            <a:ext cx="1202685" cy="3728274"/>
          </a:xfrm>
          <a:prstGeom prst="bentConnector3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F380DDD-CE53-D441-A15E-950EFDEF9F7C}"/>
              </a:ext>
            </a:extLst>
          </p:cNvPr>
          <p:cNvSpPr/>
          <p:nvPr/>
        </p:nvSpPr>
        <p:spPr bwMode="auto">
          <a:xfrm>
            <a:off x="1502864" y="1526166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marR="0" indent="-27305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TTS1</a:t>
            </a:r>
            <a:endParaRPr kumimoji="1" lang="ko-KR" altLang="en-US" sz="900" b="1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나눔고딕" pitchFamily="2" charset="-127"/>
              <a:ea typeface="나눔고딕" pitchFamily="2" charset="-127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3D09C5C5-3ED8-A49C-8E6D-337E7CB9310C}"/>
              </a:ext>
            </a:extLst>
          </p:cNvPr>
          <p:cNvSpPr/>
          <p:nvPr/>
        </p:nvSpPr>
        <p:spPr bwMode="auto">
          <a:xfrm>
            <a:off x="1502864" y="2110339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marR="0" indent="-27305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TTS2-1</a:t>
            </a:r>
            <a:endParaRPr kumimoji="1" lang="ko-KR" altLang="en-US" sz="900" b="1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나눔고딕" pitchFamily="2" charset="-127"/>
              <a:ea typeface="나눔고딕" pitchFamily="2" charset="-127"/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793D456F-C192-18A7-0E64-719C53EA7F9A}"/>
              </a:ext>
            </a:extLst>
          </p:cNvPr>
          <p:cNvCxnSpPr>
            <a:cxnSpLocks/>
            <a:stCxn id="24" idx="2"/>
            <a:endCxn id="25" idx="0"/>
          </p:cNvCxnSpPr>
          <p:nvPr/>
        </p:nvCxnSpPr>
        <p:spPr>
          <a:xfrm>
            <a:off x="1899243" y="1957867"/>
            <a:ext cx="0" cy="1524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19B8C678-B1BC-405C-93DA-38E8E7586BC1}"/>
              </a:ext>
            </a:extLst>
          </p:cNvPr>
          <p:cNvSpPr/>
          <p:nvPr/>
        </p:nvSpPr>
        <p:spPr bwMode="auto">
          <a:xfrm>
            <a:off x="6810675" y="1541637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marR="0" indent="-27305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TT8-4</a:t>
            </a:r>
            <a:endParaRPr kumimoji="1" lang="ko-KR" altLang="en-US" sz="900" b="1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나눔고딕" pitchFamily="2" charset="-127"/>
              <a:ea typeface="나눔고딕" pitchFamily="2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249A737-8B96-D6DE-9578-86D468EC0AE3}"/>
              </a:ext>
            </a:extLst>
          </p:cNvPr>
          <p:cNvSpPr txBox="1"/>
          <p:nvPr/>
        </p:nvSpPr>
        <p:spPr>
          <a:xfrm>
            <a:off x="5785644" y="1619494"/>
            <a:ext cx="62068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dirty="0" err="1">
                <a:solidFill>
                  <a:schemeClr val="dk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대기멘트</a:t>
            </a:r>
            <a:endParaRPr lang="ko-KR" altLang="en-US" sz="900" dirty="0">
              <a:solidFill>
                <a:schemeClr val="dk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44AF3C39-BFB2-38A8-86B2-EDB65B9B0E66}"/>
              </a:ext>
            </a:extLst>
          </p:cNvPr>
          <p:cNvSpPr/>
          <p:nvPr/>
        </p:nvSpPr>
        <p:spPr bwMode="auto">
          <a:xfrm>
            <a:off x="1502864" y="1526166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marR="0" indent="-27305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TTS1</a:t>
            </a:r>
            <a:endParaRPr kumimoji="1" lang="ko-KR" altLang="en-US" sz="900" b="1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나눔고딕" pitchFamily="2" charset="-127"/>
              <a:ea typeface="나눔고딕" pitchFamily="2" charset="-127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2B3F545E-7254-A590-9ED2-D9A09A5A1D22}"/>
              </a:ext>
            </a:extLst>
          </p:cNvPr>
          <p:cNvSpPr/>
          <p:nvPr/>
        </p:nvSpPr>
        <p:spPr bwMode="auto">
          <a:xfrm>
            <a:off x="1502864" y="2110339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marR="0" indent="-27305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TTS2-1</a:t>
            </a:r>
            <a:endParaRPr kumimoji="1" lang="ko-KR" altLang="en-US" sz="900" b="1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나눔고딕" pitchFamily="2" charset="-127"/>
              <a:ea typeface="나눔고딕" pitchFamily="2" charset="-127"/>
            </a:endParaRPr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CF03421A-CD5B-00FD-1D7D-A8F21F3C882E}"/>
              </a:ext>
            </a:extLst>
          </p:cNvPr>
          <p:cNvCxnSpPr>
            <a:cxnSpLocks/>
            <a:stCxn id="29" idx="2"/>
            <a:endCxn id="30" idx="0"/>
          </p:cNvCxnSpPr>
          <p:nvPr/>
        </p:nvCxnSpPr>
        <p:spPr>
          <a:xfrm>
            <a:off x="1899243" y="1957867"/>
            <a:ext cx="0" cy="1524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8E3AA6A3-0BC1-3E3B-FF7A-93ED2B5293B8}"/>
              </a:ext>
            </a:extLst>
          </p:cNvPr>
          <p:cNvSpPr/>
          <p:nvPr/>
        </p:nvSpPr>
        <p:spPr bwMode="auto">
          <a:xfrm>
            <a:off x="6810675" y="1541637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marR="0" indent="-27305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TT8-4</a:t>
            </a:r>
            <a:endParaRPr kumimoji="1" lang="ko-KR" altLang="en-US" sz="900" b="1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나눔고딕" pitchFamily="2" charset="-127"/>
              <a:ea typeface="나눔고딕" pitchFamily="2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F0FB618-D43F-E4D2-1994-A07E6CF09C42}"/>
              </a:ext>
            </a:extLst>
          </p:cNvPr>
          <p:cNvSpPr txBox="1"/>
          <p:nvPr/>
        </p:nvSpPr>
        <p:spPr>
          <a:xfrm>
            <a:off x="5785644" y="1619494"/>
            <a:ext cx="62068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dirty="0" err="1">
                <a:solidFill>
                  <a:schemeClr val="dk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대기멘트</a:t>
            </a:r>
            <a:endParaRPr lang="ko-KR" altLang="en-US" sz="900" dirty="0">
              <a:solidFill>
                <a:schemeClr val="dk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1AAB6DF6-87A0-8005-CD10-248D31D560FA}"/>
              </a:ext>
            </a:extLst>
          </p:cNvPr>
          <p:cNvSpPr/>
          <p:nvPr/>
        </p:nvSpPr>
        <p:spPr bwMode="auto">
          <a:xfrm>
            <a:off x="1494584" y="1521129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marR="0" indent="-27305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TTS1</a:t>
            </a:r>
            <a:endParaRPr kumimoji="1" lang="ko-KR" altLang="en-US" sz="900" b="1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나눔고딕" pitchFamily="2" charset="-127"/>
              <a:ea typeface="나눔고딕" pitchFamily="2" charset="-127"/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D493055A-565A-4C09-1B47-BAE8801525AB}"/>
              </a:ext>
            </a:extLst>
          </p:cNvPr>
          <p:cNvSpPr/>
          <p:nvPr/>
        </p:nvSpPr>
        <p:spPr bwMode="auto">
          <a:xfrm>
            <a:off x="2407718" y="1521128"/>
            <a:ext cx="3168352" cy="431701"/>
          </a:xfrm>
          <a:prstGeom prst="rect">
            <a:avLst/>
          </a:prstGeom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900" dirty="0">
                <a:highlight>
                  <a:srgbClr val="FFFF00"/>
                </a:highlight>
                <a:latin typeface="나눔고딕" pitchFamily="2" charset="-127"/>
                <a:ea typeface="나눔고딕" pitchFamily="2" charset="-127"/>
              </a:rPr>
              <a:t>안녕하세요</a:t>
            </a:r>
            <a:r>
              <a:rPr lang="en-US" altLang="ko-KR" sz="900" dirty="0">
                <a:highlight>
                  <a:srgbClr val="FFFF00"/>
                </a:highlight>
                <a:latin typeface="나눔고딕" pitchFamily="2" charset="-127"/>
                <a:ea typeface="나눔고딕" pitchFamily="2" charset="-127"/>
              </a:rPr>
              <a:t>,</a:t>
            </a:r>
            <a:r>
              <a:rPr lang="ko-KR" altLang="en-US" sz="900" dirty="0">
                <a:highlight>
                  <a:srgbClr val="FFFF00"/>
                </a:highlight>
                <a:latin typeface="나눔고딕" pitchFamily="2" charset="-127"/>
                <a:ea typeface="나눔고딕" pitchFamily="2" charset="-127"/>
              </a:rPr>
              <a:t> </a:t>
            </a:r>
            <a:r>
              <a:rPr lang="ko-KR" altLang="en-US" sz="900" dirty="0" err="1">
                <a:highlight>
                  <a:srgbClr val="FFFF00"/>
                </a:highlight>
                <a:latin typeface="나눔고딕" pitchFamily="2" charset="-127"/>
                <a:ea typeface="나눔고딕" pitchFamily="2" charset="-127"/>
              </a:rPr>
              <a:t>레이레이</a:t>
            </a:r>
            <a:r>
              <a:rPr lang="ko-KR" altLang="en-US" sz="900" dirty="0">
                <a:highlight>
                  <a:srgbClr val="FFFF00"/>
                </a:highlight>
                <a:latin typeface="나눔고딕" pitchFamily="2" charset="-127"/>
                <a:ea typeface="나눔고딕" pitchFamily="2" charset="-127"/>
              </a:rPr>
              <a:t> 상담 고객센터 입니다</a:t>
            </a:r>
            <a:r>
              <a:rPr lang="en-US" altLang="ko-KR" sz="900" dirty="0">
                <a:highlight>
                  <a:srgbClr val="FFFF00"/>
                </a:highlight>
                <a:latin typeface="나눔고딕" pitchFamily="2" charset="-127"/>
                <a:ea typeface="나눔고딕" pitchFamily="2" charset="-127"/>
              </a:rPr>
              <a:t>.</a:t>
            </a:r>
            <a:endParaRPr lang="ko-KR" altLang="en-US" sz="900" dirty="0">
              <a:highlight>
                <a:srgbClr val="FFFF00"/>
              </a:highlight>
              <a:latin typeface="나눔고딕" pitchFamily="2" charset="-127"/>
              <a:ea typeface="나눔고딕" pitchFamily="2" charset="-127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3A2DED64-989C-271C-5851-E1EEB28AB903}"/>
              </a:ext>
            </a:extLst>
          </p:cNvPr>
          <p:cNvSpPr/>
          <p:nvPr/>
        </p:nvSpPr>
        <p:spPr bwMode="auto">
          <a:xfrm>
            <a:off x="1494584" y="2105302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marR="0" indent="-27305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TTS2-1</a:t>
            </a:r>
            <a:endParaRPr kumimoji="1" lang="ko-KR" altLang="en-US" sz="900" b="1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나눔고딕" pitchFamily="2" charset="-127"/>
              <a:ea typeface="나눔고딕" pitchFamily="2" charset="-127"/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E7AE7D9-3BD8-A1BB-4167-A0004498B1D4}"/>
              </a:ext>
            </a:extLst>
          </p:cNvPr>
          <p:cNvSpPr/>
          <p:nvPr/>
        </p:nvSpPr>
        <p:spPr bwMode="auto">
          <a:xfrm>
            <a:off x="2439638" y="2123792"/>
            <a:ext cx="3168352" cy="431701"/>
          </a:xfrm>
          <a:prstGeom prst="rect">
            <a:avLst/>
          </a:prstGeom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defRPr/>
            </a:pPr>
            <a:r>
              <a:rPr lang="ko-KR" altLang="en-US" sz="900" dirty="0">
                <a:latin typeface="나눔고딕" pitchFamily="2" charset="-127"/>
                <a:ea typeface="나눔고딕" pitchFamily="2" charset="-127"/>
              </a:rPr>
              <a:t>잠시만 기다려 주시면 상담원을 연결해 드리겠습니다</a:t>
            </a:r>
            <a:endParaRPr lang="en-US" altLang="ko-KR" sz="900" strike="sngStrike" dirty="0">
              <a:solidFill>
                <a:schemeClr val="tx1"/>
              </a:solidFill>
              <a:latin typeface="나눔고딕" pitchFamily="2" charset="-127"/>
              <a:ea typeface="나눔고딕" pitchFamily="2" charset="-127"/>
            </a:endParaRPr>
          </a:p>
        </p:txBody>
      </p: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5DF5A964-AFA7-A453-9D56-C446CE9C17B6}"/>
              </a:ext>
            </a:extLst>
          </p:cNvPr>
          <p:cNvCxnSpPr>
            <a:cxnSpLocks/>
            <a:stCxn id="34" idx="2"/>
            <a:endCxn id="36" idx="0"/>
          </p:cNvCxnSpPr>
          <p:nvPr/>
        </p:nvCxnSpPr>
        <p:spPr>
          <a:xfrm>
            <a:off x="1890963" y="1952830"/>
            <a:ext cx="0" cy="1524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BE7AA811-1AE4-59F9-1388-18939831192B}"/>
              </a:ext>
            </a:extLst>
          </p:cNvPr>
          <p:cNvSpPr/>
          <p:nvPr/>
        </p:nvSpPr>
        <p:spPr bwMode="auto">
          <a:xfrm>
            <a:off x="7708920" y="1552315"/>
            <a:ext cx="3168352" cy="431701"/>
          </a:xfrm>
          <a:prstGeom prst="rect">
            <a:avLst/>
          </a:prstGeom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defRPr/>
            </a:pPr>
            <a:r>
              <a:rPr lang="en-US" altLang="ko-KR" sz="900" dirty="0">
                <a:highlight>
                  <a:srgbClr val="FFFF00"/>
                </a:highlight>
                <a:latin typeface="나눔고딕" panose="020D0604000000000000" pitchFamily="50" charset="-127"/>
                <a:ea typeface="나눔고딕" panose="020D0604000000000000" pitchFamily="50" charset="-127"/>
              </a:rPr>
              <a:t>It’s Lay Time! </a:t>
            </a:r>
          </a:p>
          <a:p>
            <a:pPr>
              <a:defRPr/>
            </a:pPr>
            <a:r>
              <a:rPr lang="ko-KR" altLang="en-US" sz="900" dirty="0">
                <a:highlight>
                  <a:srgbClr val="FFFF00"/>
                </a:highlight>
                <a:latin typeface="나눔고딕" panose="020D0604000000000000" pitchFamily="50" charset="-127"/>
                <a:ea typeface="나눔고딕" panose="020D0604000000000000" pitchFamily="50" charset="-127"/>
              </a:rPr>
              <a:t>안녕하세요</a:t>
            </a:r>
            <a:r>
              <a:rPr lang="en-US" altLang="ko-KR" sz="900" dirty="0">
                <a:highlight>
                  <a:srgbClr val="FFFF00"/>
                </a:highlight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900" dirty="0" err="1">
                <a:highlight>
                  <a:srgbClr val="FFFF00"/>
                </a:highlight>
                <a:latin typeface="나눔고딕" panose="020D0604000000000000" pitchFamily="50" charset="-127"/>
                <a:ea typeface="나눔고딕" panose="020D0604000000000000" pitchFamily="50" charset="-127"/>
              </a:rPr>
              <a:t>레이레이입니다</a:t>
            </a:r>
            <a:r>
              <a:rPr lang="en-US" altLang="ko-KR" sz="900" dirty="0">
                <a:highlight>
                  <a:srgbClr val="FFFF00"/>
                </a:highlight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pPr>
              <a:defRPr/>
            </a:pPr>
            <a:r>
              <a:rPr lang="ko-KR" altLang="en-US" sz="900" dirty="0">
                <a:highlight>
                  <a:srgbClr val="FFFF00"/>
                </a:highlight>
                <a:latin typeface="나눔고딕" panose="020D0604000000000000" pitchFamily="50" charset="-127"/>
                <a:ea typeface="나눔고딕" panose="020D0604000000000000" pitchFamily="50" charset="-127"/>
              </a:rPr>
              <a:t>잠시만 기다려 주시면 상담원을 연결해 드리겠습니다</a:t>
            </a:r>
            <a:r>
              <a:rPr lang="en-US" altLang="ko-KR" sz="900" dirty="0">
                <a:highlight>
                  <a:srgbClr val="FFFF00"/>
                </a:highlight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A25CB5E-E7F8-1DFB-3CE5-15A3C740BF8B}"/>
              </a:ext>
            </a:extLst>
          </p:cNvPr>
          <p:cNvSpPr/>
          <p:nvPr/>
        </p:nvSpPr>
        <p:spPr bwMode="auto">
          <a:xfrm>
            <a:off x="6802395" y="1536600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marR="0" indent="-27305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TT8-4</a:t>
            </a:r>
            <a:endParaRPr kumimoji="1" lang="ko-KR" altLang="en-US" sz="900" b="1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나눔고딕" pitchFamily="2" charset="-127"/>
              <a:ea typeface="나눔고딕" pitchFamily="2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EA58D1F-C05D-BA69-C970-50BAB9C79821}"/>
              </a:ext>
            </a:extLst>
          </p:cNvPr>
          <p:cNvSpPr txBox="1"/>
          <p:nvPr/>
        </p:nvSpPr>
        <p:spPr>
          <a:xfrm>
            <a:off x="5777364" y="1614457"/>
            <a:ext cx="62068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dirty="0" err="1">
                <a:solidFill>
                  <a:schemeClr val="dk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대기멘트</a:t>
            </a:r>
            <a:endParaRPr lang="ko-KR" altLang="en-US" sz="900" dirty="0">
              <a:solidFill>
                <a:schemeClr val="dk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854780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E9DE11-04BE-478D-52BC-E568B6BF2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A3A7DB24-A306-697C-D9D2-A3D6A386C6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71485" y="256142"/>
            <a:ext cx="9067582" cy="54133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lIns="92075" tIns="46037" rIns="92075" bIns="46037" anchor="ctr"/>
          <a:lstStyle/>
          <a:p>
            <a:r>
              <a:rPr lang="en-US" altLang="ko-KR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1. </a:t>
            </a:r>
            <a:r>
              <a:rPr lang="ko-KR" altLang="en-US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대표번호</a:t>
            </a:r>
            <a:r>
              <a:rPr lang="en-US" altLang="ko-KR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altLang="en-US" sz="1798" b="1" dirty="0" err="1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크로네</a:t>
            </a:r>
            <a:r>
              <a:rPr lang="ko-KR" altLang="en-US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en-US" altLang="ko-KR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highlight>
                  <a:srgbClr val="FFFF00"/>
                </a:highlight>
                <a:latin typeface="나눔고딕" panose="020D0604000000000000" pitchFamily="50" charset="-127"/>
                <a:ea typeface="나눔고딕" panose="020D0604000000000000" pitchFamily="50" charset="-127"/>
              </a:rPr>
              <a:t>1833-8311</a:t>
            </a:r>
            <a:r>
              <a:rPr lang="en-US" altLang="ko-KR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/ STEP 1 / IVR Tree</a:t>
            </a:r>
            <a:r>
              <a:rPr lang="ko-KR" altLang="en-US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案 </a:t>
            </a:r>
            <a:r>
              <a:rPr lang="en-US" altLang="ko-KR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/ Call Flow (</a:t>
            </a:r>
            <a:r>
              <a:rPr lang="ko-KR" altLang="en-US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업무시간 </a:t>
            </a:r>
            <a:r>
              <a:rPr lang="en-US" altLang="ko-KR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: 10</a:t>
            </a:r>
            <a:r>
              <a:rPr lang="ko-KR" altLang="en-US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시 </a:t>
            </a:r>
            <a:r>
              <a:rPr lang="en-US" altLang="ko-KR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~ 17</a:t>
            </a:r>
            <a:r>
              <a:rPr lang="ko-KR" altLang="en-US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시</a:t>
            </a:r>
            <a:r>
              <a:rPr lang="en-US" altLang="ko-KR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)</a:t>
            </a:r>
            <a:endParaRPr lang="ko-KR" altLang="en-US" sz="1798" b="1" dirty="0">
              <a:ln>
                <a:solidFill>
                  <a:prstClr val="black">
                    <a:alpha val="44000"/>
                  </a:prstClr>
                </a:solidFill>
              </a:ln>
              <a:solidFill>
                <a:srgbClr val="5B85DA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EE92159-2B91-9805-4C1F-DC79D7B3E4DF}"/>
              </a:ext>
            </a:extLst>
          </p:cNvPr>
          <p:cNvSpPr/>
          <p:nvPr/>
        </p:nvSpPr>
        <p:spPr bwMode="auto">
          <a:xfrm>
            <a:off x="1502864" y="3782741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marR="0" indent="-27305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TTS4</a:t>
            </a:r>
            <a:endParaRPr kumimoji="1" lang="ko-KR" altLang="en-US" sz="900" b="1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나눔고딕" pitchFamily="2" charset="-127"/>
              <a:ea typeface="나눔고딕" pitchFamily="2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8D6513E-8065-2933-1B7E-D231C07A2406}"/>
              </a:ext>
            </a:extLst>
          </p:cNvPr>
          <p:cNvSpPr/>
          <p:nvPr/>
        </p:nvSpPr>
        <p:spPr bwMode="auto">
          <a:xfrm>
            <a:off x="2439638" y="3782740"/>
            <a:ext cx="3168352" cy="431701"/>
          </a:xfrm>
          <a:prstGeom prst="rect">
            <a:avLst/>
          </a:prstGeom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defRPr/>
            </a:pPr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더 나은 서비스 제공을 위해 </a:t>
            </a:r>
            <a:r>
              <a:rPr lang="ko-KR" altLang="en-US" sz="900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고객님과의</a:t>
            </a:r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 통화내용이 </a:t>
            </a:r>
            <a:endParaRPr lang="en-US" altLang="ko-KR" sz="9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>
              <a:defRPr/>
            </a:pPr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녹취됨을 알려드립니다</a:t>
            </a: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EF15D2-0F4B-25B9-8F72-32EA45C0DED2}"/>
              </a:ext>
            </a:extLst>
          </p:cNvPr>
          <p:cNvSpPr/>
          <p:nvPr/>
        </p:nvSpPr>
        <p:spPr bwMode="auto">
          <a:xfrm>
            <a:off x="1502864" y="4361265"/>
            <a:ext cx="792758" cy="620614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marR="0" indent="-27305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TTS5</a:t>
            </a:r>
            <a:endParaRPr kumimoji="1" lang="ko-KR" altLang="en-US" sz="900" b="1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나눔고딕" pitchFamily="2" charset="-127"/>
              <a:ea typeface="나눔고딕" pitchFamily="2" charset="-127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3E526CDA-EC6C-4A99-A053-6CDF80A192F3}"/>
              </a:ext>
            </a:extLst>
          </p:cNvPr>
          <p:cNvSpPr/>
          <p:nvPr/>
        </p:nvSpPr>
        <p:spPr bwMode="auto">
          <a:xfrm>
            <a:off x="2439638" y="4361264"/>
            <a:ext cx="3168352" cy="620615"/>
          </a:xfrm>
          <a:prstGeom prst="rect">
            <a:avLst/>
          </a:prstGeom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잠시 후 연결되는 상담사는 누군가의 소중한 가족입니다</a:t>
            </a: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산업안전 보건법에 따라 고객 응대 근로자 보호조치를 시행하고</a:t>
            </a:r>
            <a:endParaRPr lang="en-US" altLang="ko-KR" sz="9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r>
              <a:rPr lang="ko-KR" altLang="en-US" sz="900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있사오니</a:t>
            </a: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altLang="en-US" sz="900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폭언등은</a:t>
            </a:r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 삼가하여 주시기 바랍니다</a:t>
            </a: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잠시만 기다려 주십시오</a:t>
            </a: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상담원을 연결해 드리겠습니다</a:t>
            </a: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  <a:endParaRPr lang="ko-KR" altLang="en-US" sz="9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4981C48E-DDE5-F1AB-3063-4E11B2C603E9}"/>
              </a:ext>
            </a:extLst>
          </p:cNvPr>
          <p:cNvSpPr/>
          <p:nvPr/>
        </p:nvSpPr>
        <p:spPr bwMode="auto">
          <a:xfrm>
            <a:off x="1502864" y="5269912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marR="0" indent="-27305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TTS6</a:t>
            </a:r>
            <a:endParaRPr kumimoji="1" lang="ko-KR" altLang="en-US" sz="900" b="1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나눔고딕" pitchFamily="2" charset="-127"/>
              <a:ea typeface="나눔고딕" pitchFamily="2" charset="-127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4C881145-2E6E-71A4-AEB9-2609F78EB5A1}"/>
              </a:ext>
            </a:extLst>
          </p:cNvPr>
          <p:cNvSpPr/>
          <p:nvPr/>
        </p:nvSpPr>
        <p:spPr bwMode="auto">
          <a:xfrm>
            <a:off x="2439638" y="5269911"/>
            <a:ext cx="3168352" cy="431701"/>
          </a:xfrm>
          <a:prstGeom prst="rect">
            <a:avLst/>
          </a:prstGeom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27013" lvl="0" indent="-227013" defTabSz="91436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sz="900" kern="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죄송합니다</a:t>
            </a:r>
            <a:r>
              <a:rPr kumimoji="0" lang="en-US" altLang="ko-KR" sz="900" kern="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  <a:r>
              <a:rPr kumimoji="0" lang="ko-KR" altLang="en-US" sz="900" kern="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지금은 모든 상담사가 통화 중으로</a:t>
            </a:r>
            <a:r>
              <a:rPr kumimoji="0" lang="en-US" altLang="ko-KR" sz="900" kern="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kumimoji="0" lang="ko-KR" altLang="en-US" sz="900" kern="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잠시만 </a:t>
            </a:r>
            <a:endParaRPr kumimoji="0" lang="en-US" altLang="ko-KR" sz="900" kern="0" dirty="0">
              <a:solidFill>
                <a:schemeClr val="tx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227013" lvl="0" indent="-227013" defTabSz="91436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sz="900" kern="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기다려 주시면 </a:t>
            </a:r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상담사를 연결해 드리겠습니다</a:t>
            </a: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69257F4E-9682-58C8-84EC-E42B4FC1FB04}"/>
              </a:ext>
            </a:extLst>
          </p:cNvPr>
          <p:cNvCxnSpPr>
            <a:cxnSpLocks/>
            <a:stCxn id="10" idx="2"/>
            <a:endCxn id="43" idx="0"/>
          </p:cNvCxnSpPr>
          <p:nvPr/>
        </p:nvCxnSpPr>
        <p:spPr>
          <a:xfrm>
            <a:off x="1899243" y="4981879"/>
            <a:ext cx="0" cy="2880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6" name="직사각형 4">
            <a:extLst>
              <a:ext uri="{FF2B5EF4-FFF2-40B4-BE49-F238E27FC236}">
                <a16:creationId xmlns:a16="http://schemas.microsoft.com/office/drawing/2014/main" id="{DA482517-03BE-5D1A-385A-F586D4ABE9D5}"/>
              </a:ext>
            </a:extLst>
          </p:cNvPr>
          <p:cNvSpPr/>
          <p:nvPr/>
        </p:nvSpPr>
        <p:spPr>
          <a:xfrm>
            <a:off x="1974567" y="5024304"/>
            <a:ext cx="970101" cy="175473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51" dirty="0">
                <a:solidFill>
                  <a:srgbClr val="0070C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Arial" panose="020B0604020202020204" pitchFamily="34" charset="0"/>
              </a:rPr>
              <a:t>전 상담사 대기 중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82F1F3F7-9670-402D-A4BF-BF6B3635D1BA}"/>
              </a:ext>
            </a:extLst>
          </p:cNvPr>
          <p:cNvSpPr/>
          <p:nvPr/>
        </p:nvSpPr>
        <p:spPr bwMode="auto">
          <a:xfrm>
            <a:off x="1502864" y="6062346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marR="0" indent="-27305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TTS7</a:t>
            </a:r>
            <a:endParaRPr kumimoji="1" lang="ko-KR" altLang="en-US" sz="900" b="1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나눔고딕" pitchFamily="2" charset="-127"/>
              <a:ea typeface="나눔고딕" pitchFamily="2" charset="-127"/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065C1743-0819-7EAA-B1BF-EAB046DB68B2}"/>
              </a:ext>
            </a:extLst>
          </p:cNvPr>
          <p:cNvSpPr/>
          <p:nvPr/>
        </p:nvSpPr>
        <p:spPr bwMode="auto">
          <a:xfrm>
            <a:off x="2439638" y="6062345"/>
            <a:ext cx="3168352" cy="431701"/>
          </a:xfrm>
          <a:prstGeom prst="rect">
            <a:avLst/>
          </a:prstGeom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defRPr/>
            </a:pPr>
            <a:r>
              <a:rPr lang="ko-KR" altLang="en-US" sz="9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죄송합니다</a:t>
            </a:r>
            <a:r>
              <a:rPr lang="en-US" altLang="ko-KR" sz="9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  <a:r>
              <a:rPr lang="ko-KR" altLang="en-US" sz="9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지금은 통화량이 많아 상담원 연결이 어렵습니다</a:t>
            </a:r>
            <a:r>
              <a:rPr lang="en-US" altLang="ko-KR" sz="9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pPr>
              <a:defRPr/>
            </a:pPr>
            <a:r>
              <a:rPr lang="ko-KR" altLang="en-US" sz="9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잠시 후에 다시 이용을 부탁드립니다</a:t>
            </a:r>
            <a:r>
              <a:rPr lang="en-US" altLang="ko-KR" sz="9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63F7DF6A-A1F4-AF42-E0C1-6698AB55B0FC}"/>
              </a:ext>
            </a:extLst>
          </p:cNvPr>
          <p:cNvCxnSpPr>
            <a:cxnSpLocks/>
            <a:stCxn id="43" idx="2"/>
            <a:endCxn id="47" idx="0"/>
          </p:cNvCxnSpPr>
          <p:nvPr/>
        </p:nvCxnSpPr>
        <p:spPr>
          <a:xfrm>
            <a:off x="1899243" y="5701613"/>
            <a:ext cx="0" cy="3607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Rectangle 2">
            <a:extLst>
              <a:ext uri="{FF2B5EF4-FFF2-40B4-BE49-F238E27FC236}">
                <a16:creationId xmlns:a16="http://schemas.microsoft.com/office/drawing/2014/main" id="{32AA1E75-F1B0-EBE6-D762-0C2AD95CA1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7397" y="908369"/>
            <a:ext cx="9067582" cy="54133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lIns="92075" tIns="46037" rIns="92075" bIns="46037" anchor="ctr"/>
          <a:lstStyle/>
          <a:p>
            <a:r>
              <a:rPr lang="ko-KR" altLang="en-US" b="1" u="sng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■ 대표번호</a:t>
            </a:r>
            <a:r>
              <a:rPr lang="en-US" altLang="ko-KR" b="1" u="sng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en-US" altLang="ko-KR" b="1" u="sng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highlight>
                  <a:srgbClr val="FFFF00"/>
                </a:highlight>
                <a:latin typeface="나눔고딕" panose="020D0604000000000000" pitchFamily="50" charset="-127"/>
                <a:ea typeface="나눔고딕" panose="020D0604000000000000" pitchFamily="50" charset="-127"/>
              </a:rPr>
              <a:t>1833-8311</a:t>
            </a:r>
            <a:r>
              <a:rPr lang="en-US" altLang="ko-KR" b="1" u="sng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altLang="en-US" b="1" u="sng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업무 시간 정상적 콜 성우 녹음 멘트 흐름도</a:t>
            </a:r>
            <a:endParaRPr lang="ko-KR" altLang="en-US" b="1" u="sng" dirty="0">
              <a:ln>
                <a:solidFill>
                  <a:prstClr val="black">
                    <a:alpha val="44000"/>
                  </a:prstClr>
                </a:solidFill>
              </a:ln>
              <a:solidFill>
                <a:srgbClr val="5B85DA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51" name="직사각형 4">
            <a:extLst>
              <a:ext uri="{FF2B5EF4-FFF2-40B4-BE49-F238E27FC236}">
                <a16:creationId xmlns:a16="http://schemas.microsoft.com/office/drawing/2014/main" id="{0D32CA10-FCDE-55F2-5CC5-B4499D93DD2F}"/>
              </a:ext>
            </a:extLst>
          </p:cNvPr>
          <p:cNvSpPr/>
          <p:nvPr/>
        </p:nvSpPr>
        <p:spPr>
          <a:xfrm>
            <a:off x="1954587" y="5794242"/>
            <a:ext cx="970101" cy="175473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51" dirty="0">
                <a:solidFill>
                  <a:srgbClr val="0070C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Arial" panose="020B0604020202020204" pitchFamily="34" charset="0"/>
              </a:rPr>
              <a:t>120</a:t>
            </a:r>
            <a:r>
              <a:rPr lang="ko-KR" altLang="en-US" sz="951" dirty="0">
                <a:solidFill>
                  <a:srgbClr val="0070C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Arial" panose="020B0604020202020204" pitchFamily="34" charset="0"/>
              </a:rPr>
              <a:t>초 후에</a:t>
            </a:r>
          </a:p>
        </p:txBody>
      </p:sp>
      <p:cxnSp>
        <p:nvCxnSpPr>
          <p:cNvPr id="52" name="연결선: 꺾임 51">
            <a:extLst>
              <a:ext uri="{FF2B5EF4-FFF2-40B4-BE49-F238E27FC236}">
                <a16:creationId xmlns:a16="http://schemas.microsoft.com/office/drawing/2014/main" id="{6A16497B-412C-EACA-E785-53753ACBD061}"/>
              </a:ext>
            </a:extLst>
          </p:cNvPr>
          <p:cNvCxnSpPr>
            <a:cxnSpLocks/>
            <a:stCxn id="44" idx="3"/>
            <a:endCxn id="42" idx="3"/>
          </p:cNvCxnSpPr>
          <p:nvPr/>
        </p:nvCxnSpPr>
        <p:spPr>
          <a:xfrm flipV="1">
            <a:off x="5607990" y="4671572"/>
            <a:ext cx="12700" cy="814190"/>
          </a:xfrm>
          <a:prstGeom prst="bentConnector3">
            <a:avLst>
              <a:gd name="adj1" fmla="val 180000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headEnd type="triangle"/>
            <a:tailEnd type="triangle"/>
          </a:ln>
          <a:effectLst/>
        </p:spPr>
      </p:cxnSp>
      <p:sp>
        <p:nvSpPr>
          <p:cNvPr id="53" name="직사각형 4">
            <a:extLst>
              <a:ext uri="{FF2B5EF4-FFF2-40B4-BE49-F238E27FC236}">
                <a16:creationId xmlns:a16="http://schemas.microsoft.com/office/drawing/2014/main" id="{216376F5-B9B0-512F-9E96-6E7047A6FF28}"/>
              </a:ext>
            </a:extLst>
          </p:cNvPr>
          <p:cNvSpPr/>
          <p:nvPr/>
        </p:nvSpPr>
        <p:spPr>
          <a:xfrm>
            <a:off x="5466316" y="5052652"/>
            <a:ext cx="970101" cy="175473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51" dirty="0">
                <a:solidFill>
                  <a:srgbClr val="0070C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Arial" panose="020B0604020202020204" pitchFamily="34" charset="0"/>
              </a:rPr>
              <a:t>120</a:t>
            </a:r>
            <a:r>
              <a:rPr lang="ko-KR" altLang="en-US" sz="951" dirty="0">
                <a:solidFill>
                  <a:srgbClr val="0070C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Arial" panose="020B0604020202020204" pitchFamily="34" charset="0"/>
              </a:rPr>
              <a:t>초 상담사 연결 대기</a:t>
            </a:r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09BD5A58-A764-B272-46DB-B5377904BC09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1899243" y="2542040"/>
            <a:ext cx="0" cy="124070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연결선: 꺾임 54">
            <a:extLst>
              <a:ext uri="{FF2B5EF4-FFF2-40B4-BE49-F238E27FC236}">
                <a16:creationId xmlns:a16="http://schemas.microsoft.com/office/drawing/2014/main" id="{CD8C1F4A-A72F-4BE1-F36E-139263E9C395}"/>
              </a:ext>
            </a:extLst>
          </p:cNvPr>
          <p:cNvCxnSpPr>
            <a:cxnSpLocks/>
            <a:stCxn id="44" idx="3"/>
          </p:cNvCxnSpPr>
          <p:nvPr/>
        </p:nvCxnSpPr>
        <p:spPr>
          <a:xfrm flipV="1">
            <a:off x="5607990" y="1757488"/>
            <a:ext cx="1202685" cy="3728274"/>
          </a:xfrm>
          <a:prstGeom prst="bentConnector3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777EA4C4-AE5D-1D14-8111-DE8C1516CA7F}"/>
              </a:ext>
            </a:extLst>
          </p:cNvPr>
          <p:cNvSpPr/>
          <p:nvPr/>
        </p:nvSpPr>
        <p:spPr bwMode="auto">
          <a:xfrm>
            <a:off x="1502864" y="1526166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marR="0" indent="-27305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TTS1</a:t>
            </a:r>
            <a:endParaRPr kumimoji="1" lang="ko-KR" altLang="en-US" sz="900" b="1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나눔고딕" pitchFamily="2" charset="-127"/>
              <a:ea typeface="나눔고딕" pitchFamily="2" charset="-127"/>
            </a:endParaRPr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C2F574EE-BF13-F28E-E8DD-F91D4B86BA39}"/>
              </a:ext>
            </a:extLst>
          </p:cNvPr>
          <p:cNvCxnSpPr>
            <a:cxnSpLocks/>
            <a:stCxn id="56" idx="2"/>
          </p:cNvCxnSpPr>
          <p:nvPr/>
        </p:nvCxnSpPr>
        <p:spPr>
          <a:xfrm>
            <a:off x="1899243" y="1957867"/>
            <a:ext cx="0" cy="1524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4FD8F334-ACBA-41D8-DE68-6E53FDB40C8E}"/>
              </a:ext>
            </a:extLst>
          </p:cNvPr>
          <p:cNvSpPr/>
          <p:nvPr/>
        </p:nvSpPr>
        <p:spPr bwMode="auto">
          <a:xfrm>
            <a:off x="6810675" y="1541637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marR="0" indent="-27305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TT8-4</a:t>
            </a:r>
            <a:endParaRPr kumimoji="1" lang="ko-KR" altLang="en-US" sz="900" b="1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나눔고딕" pitchFamily="2" charset="-127"/>
              <a:ea typeface="나눔고딕" pitchFamily="2" charset="-12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ED80983-0B57-A18D-621C-629616C3D849}"/>
              </a:ext>
            </a:extLst>
          </p:cNvPr>
          <p:cNvSpPr txBox="1"/>
          <p:nvPr/>
        </p:nvSpPr>
        <p:spPr>
          <a:xfrm>
            <a:off x="5785644" y="1619494"/>
            <a:ext cx="62068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dirty="0" err="1">
                <a:solidFill>
                  <a:schemeClr val="dk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대기멘트</a:t>
            </a:r>
            <a:endParaRPr lang="ko-KR" altLang="en-US" sz="900" dirty="0">
              <a:solidFill>
                <a:schemeClr val="dk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64B47FB3-9891-3B95-1AD4-CEDF05E22D75}"/>
              </a:ext>
            </a:extLst>
          </p:cNvPr>
          <p:cNvSpPr/>
          <p:nvPr/>
        </p:nvSpPr>
        <p:spPr bwMode="auto">
          <a:xfrm>
            <a:off x="1502864" y="1526166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marR="0" indent="-27305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TTS1</a:t>
            </a:r>
            <a:endParaRPr kumimoji="1" lang="ko-KR" altLang="en-US" sz="900" b="1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나눔고딕" pitchFamily="2" charset="-127"/>
              <a:ea typeface="나눔고딕" pitchFamily="2" charset="-127"/>
            </a:endParaRPr>
          </a:p>
        </p:txBody>
      </p: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3B668100-739F-5F68-9369-66990F0AC672}"/>
              </a:ext>
            </a:extLst>
          </p:cNvPr>
          <p:cNvCxnSpPr>
            <a:cxnSpLocks/>
            <a:stCxn id="61" idx="2"/>
          </p:cNvCxnSpPr>
          <p:nvPr/>
        </p:nvCxnSpPr>
        <p:spPr>
          <a:xfrm>
            <a:off x="1899243" y="1957867"/>
            <a:ext cx="0" cy="1524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CE68DA14-E738-67B3-5D0D-63469A40F321}"/>
              </a:ext>
            </a:extLst>
          </p:cNvPr>
          <p:cNvSpPr/>
          <p:nvPr/>
        </p:nvSpPr>
        <p:spPr bwMode="auto">
          <a:xfrm>
            <a:off x="6810675" y="1541637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marR="0" indent="-27305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TT8-4</a:t>
            </a:r>
            <a:endParaRPr kumimoji="1" lang="ko-KR" altLang="en-US" sz="900" b="1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나눔고딕" pitchFamily="2" charset="-127"/>
              <a:ea typeface="나눔고딕" pitchFamily="2" charset="-127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277A0A8-B96C-2A6C-5C25-496481FA0D2D}"/>
              </a:ext>
            </a:extLst>
          </p:cNvPr>
          <p:cNvSpPr txBox="1"/>
          <p:nvPr/>
        </p:nvSpPr>
        <p:spPr>
          <a:xfrm>
            <a:off x="5785644" y="1619494"/>
            <a:ext cx="62068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dirty="0" err="1">
                <a:solidFill>
                  <a:schemeClr val="dk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대기멘트</a:t>
            </a:r>
            <a:endParaRPr lang="ko-KR" altLang="en-US" sz="900" dirty="0">
              <a:solidFill>
                <a:schemeClr val="dk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A50AAC0C-5077-F388-5D1F-07625D478AB6}"/>
              </a:ext>
            </a:extLst>
          </p:cNvPr>
          <p:cNvSpPr/>
          <p:nvPr/>
        </p:nvSpPr>
        <p:spPr bwMode="auto">
          <a:xfrm>
            <a:off x="1494584" y="1521129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marR="0" indent="-27305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TTS1</a:t>
            </a:r>
            <a:endParaRPr kumimoji="1" lang="ko-KR" altLang="en-US" sz="900" b="1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나눔고딕" pitchFamily="2" charset="-127"/>
              <a:ea typeface="나눔고딕" pitchFamily="2" charset="-127"/>
            </a:endParaRP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45D1B07F-4A12-50CC-6747-E2FD95FBC33F}"/>
              </a:ext>
            </a:extLst>
          </p:cNvPr>
          <p:cNvSpPr/>
          <p:nvPr/>
        </p:nvSpPr>
        <p:spPr bwMode="auto">
          <a:xfrm>
            <a:off x="2407718" y="1521128"/>
            <a:ext cx="3168352" cy="431701"/>
          </a:xfrm>
          <a:prstGeom prst="rect">
            <a:avLst/>
          </a:prstGeom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900" dirty="0">
                <a:highlight>
                  <a:srgbClr val="FFFF00"/>
                </a:highlight>
              </a:rPr>
              <a:t>안녕하세요</a:t>
            </a:r>
            <a:r>
              <a:rPr lang="en-US" altLang="ko-KR" sz="900" dirty="0">
                <a:highlight>
                  <a:srgbClr val="FFFF00"/>
                </a:highlight>
              </a:rPr>
              <a:t>, </a:t>
            </a:r>
            <a:r>
              <a:rPr lang="ko-KR" altLang="en-US" sz="900" dirty="0">
                <a:highlight>
                  <a:srgbClr val="FFFF00"/>
                </a:highlight>
              </a:rPr>
              <a:t>주식회사 </a:t>
            </a:r>
            <a:r>
              <a:rPr lang="ko-KR" altLang="en-US" sz="900" dirty="0" err="1">
                <a:highlight>
                  <a:srgbClr val="FFFF00"/>
                </a:highlight>
              </a:rPr>
              <a:t>크로네</a:t>
            </a:r>
            <a:r>
              <a:rPr lang="ko-KR" altLang="en-US" sz="900" dirty="0">
                <a:highlight>
                  <a:srgbClr val="FFFF00"/>
                </a:highlight>
              </a:rPr>
              <a:t> 상담 고객센터입니다</a:t>
            </a:r>
            <a:endParaRPr lang="ko-KR" altLang="en-US" sz="900" dirty="0">
              <a:highlight>
                <a:srgbClr val="FFFF00"/>
              </a:highlight>
              <a:latin typeface="나눔고딕" pitchFamily="2" charset="-127"/>
              <a:ea typeface="나눔고딕" pitchFamily="2" charset="-127"/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DBE4F32E-7FD0-3AA0-A70F-C4AEC9842496}"/>
              </a:ext>
            </a:extLst>
          </p:cNvPr>
          <p:cNvCxnSpPr>
            <a:cxnSpLocks/>
            <a:stCxn id="66" idx="2"/>
            <a:endCxn id="3" idx="0"/>
          </p:cNvCxnSpPr>
          <p:nvPr/>
        </p:nvCxnSpPr>
        <p:spPr>
          <a:xfrm>
            <a:off x="1890963" y="1952830"/>
            <a:ext cx="8280" cy="182991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F73BA4D3-1305-0977-DB5C-719DA0654453}"/>
              </a:ext>
            </a:extLst>
          </p:cNvPr>
          <p:cNvSpPr/>
          <p:nvPr/>
        </p:nvSpPr>
        <p:spPr bwMode="auto">
          <a:xfrm>
            <a:off x="7708920" y="1552315"/>
            <a:ext cx="3168352" cy="431701"/>
          </a:xfrm>
          <a:prstGeom prst="rect">
            <a:avLst/>
          </a:prstGeom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defRPr/>
            </a:pPr>
            <a:r>
              <a:rPr lang="ko-KR" altLang="en-US" sz="1000" dirty="0">
                <a:highlight>
                  <a:srgbClr val="FFFF00"/>
                </a:highlight>
              </a:rPr>
              <a:t>아이에게 평생 건강을 선물하는 </a:t>
            </a:r>
            <a:r>
              <a:rPr lang="ko-KR" altLang="en-US" sz="1000" dirty="0" err="1">
                <a:highlight>
                  <a:srgbClr val="FFFF00"/>
                </a:highlight>
              </a:rPr>
              <a:t>크로네</a:t>
            </a:r>
            <a:r>
              <a:rPr lang="en-US" altLang="ko-KR" sz="1000" dirty="0">
                <a:highlight>
                  <a:srgbClr val="FFFF00"/>
                </a:highlight>
              </a:rPr>
              <a:t>,</a:t>
            </a:r>
            <a:br>
              <a:rPr lang="ko-KR" altLang="en-US" sz="1000" dirty="0">
                <a:highlight>
                  <a:srgbClr val="FFFF00"/>
                </a:highlight>
              </a:rPr>
            </a:br>
            <a:r>
              <a:rPr lang="ko-KR" altLang="en-US" sz="1000" dirty="0">
                <a:highlight>
                  <a:srgbClr val="FFFF00"/>
                </a:highlight>
              </a:rPr>
              <a:t>해외 직구 </a:t>
            </a:r>
            <a:r>
              <a:rPr lang="ko-KR" altLang="en-US" sz="1000" dirty="0" err="1">
                <a:highlight>
                  <a:srgbClr val="FFFF00"/>
                </a:highlight>
              </a:rPr>
              <a:t>뉴트리시아</a:t>
            </a:r>
            <a:r>
              <a:rPr lang="ko-KR" altLang="en-US" sz="1000" dirty="0">
                <a:highlight>
                  <a:srgbClr val="FFFF00"/>
                </a:highlight>
              </a:rPr>
              <a:t> </a:t>
            </a:r>
            <a:r>
              <a:rPr lang="ko-KR" altLang="en-US" sz="1000" dirty="0" err="1">
                <a:highlight>
                  <a:srgbClr val="FFFF00"/>
                </a:highlight>
              </a:rPr>
              <a:t>압타밀</a:t>
            </a:r>
            <a:r>
              <a:rPr lang="ko-KR" altLang="en-US" sz="1000" dirty="0">
                <a:highlight>
                  <a:srgbClr val="FFFF00"/>
                </a:highlight>
              </a:rPr>
              <a:t> 상담 고객센터입니다</a:t>
            </a:r>
            <a:endParaRPr lang="en-US" altLang="ko-KR" sz="1000" dirty="0">
              <a:highlight>
                <a:srgbClr val="FFFF00"/>
              </a:highlight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FB8CB1C3-93A4-6E95-8A43-BB03620BB59A}"/>
              </a:ext>
            </a:extLst>
          </p:cNvPr>
          <p:cNvSpPr/>
          <p:nvPr/>
        </p:nvSpPr>
        <p:spPr bwMode="auto">
          <a:xfrm>
            <a:off x="6802395" y="1536600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marR="0" indent="-27305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TT8-4</a:t>
            </a:r>
            <a:endParaRPr kumimoji="1" lang="ko-KR" altLang="en-US" sz="900" b="1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나눔고딕" pitchFamily="2" charset="-127"/>
              <a:ea typeface="나눔고딕" pitchFamily="2" charset="-127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403A481-10EB-FB03-DFC9-8F72350C128E}"/>
              </a:ext>
            </a:extLst>
          </p:cNvPr>
          <p:cNvSpPr txBox="1"/>
          <p:nvPr/>
        </p:nvSpPr>
        <p:spPr>
          <a:xfrm>
            <a:off x="5777364" y="1614457"/>
            <a:ext cx="62068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dirty="0" err="1">
                <a:solidFill>
                  <a:schemeClr val="dk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대기멘트</a:t>
            </a:r>
            <a:endParaRPr lang="ko-KR" altLang="en-US" sz="900" dirty="0">
              <a:solidFill>
                <a:schemeClr val="dk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D9CCC2C5-8B7F-CE28-4AD3-E842460F06F7}"/>
              </a:ext>
            </a:extLst>
          </p:cNvPr>
          <p:cNvSpPr/>
          <p:nvPr/>
        </p:nvSpPr>
        <p:spPr bwMode="auto">
          <a:xfrm>
            <a:off x="1494584" y="2105302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marR="0" indent="-27305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TTS2-1</a:t>
            </a:r>
            <a:endParaRPr kumimoji="1" lang="ko-KR" altLang="en-US" sz="900" b="1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나눔고딕" pitchFamily="2" charset="-127"/>
              <a:ea typeface="나눔고딕" pitchFamily="2" charset="-127"/>
            </a:endParaRPr>
          </a:p>
        </p:txBody>
      </p:sp>
      <p:sp>
        <p:nvSpPr>
          <p:cNvPr id="112" name="직사각형 111">
            <a:extLst>
              <a:ext uri="{FF2B5EF4-FFF2-40B4-BE49-F238E27FC236}">
                <a16:creationId xmlns:a16="http://schemas.microsoft.com/office/drawing/2014/main" id="{9F544836-D85E-CCC0-5827-B50032C12671}"/>
              </a:ext>
            </a:extLst>
          </p:cNvPr>
          <p:cNvSpPr/>
          <p:nvPr/>
        </p:nvSpPr>
        <p:spPr bwMode="auto">
          <a:xfrm>
            <a:off x="2439638" y="2096083"/>
            <a:ext cx="3168352" cy="431701"/>
          </a:xfrm>
          <a:prstGeom prst="rect">
            <a:avLst/>
          </a:prstGeom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defRPr/>
            </a:pPr>
            <a:r>
              <a:rPr lang="ko-KR" altLang="en-US" sz="900" dirty="0">
                <a:latin typeface="나눔고딕" pitchFamily="2" charset="-127"/>
                <a:ea typeface="나눔고딕" pitchFamily="2" charset="-127"/>
              </a:rPr>
              <a:t>잠시만 기다려 주시면 상담원을 연결해 드리겠습니다</a:t>
            </a:r>
            <a:endParaRPr lang="en-US" altLang="ko-KR" sz="900" strike="sngStrike" dirty="0">
              <a:solidFill>
                <a:schemeClr val="tx1"/>
              </a:solidFill>
              <a:latin typeface="나눔고딕" pitchFamily="2" charset="-127"/>
              <a:ea typeface="나눔고딕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368743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19DF2F0D-D4FA-5A84-8991-9E0DCE6F9E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4882" y="71416"/>
            <a:ext cx="9067582" cy="54133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lIns="92075" tIns="46037" rIns="92075" bIns="46037" anchor="ctr"/>
          <a:lstStyle/>
          <a:p>
            <a:r>
              <a:rPr lang="en-US" altLang="ko-KR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1. </a:t>
            </a:r>
            <a:r>
              <a:rPr lang="ko-KR" altLang="en-US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대표번호</a:t>
            </a:r>
            <a:r>
              <a:rPr lang="en-US" altLang="ko-KR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1544-1201 / STEP 1 / IVR Tree</a:t>
            </a:r>
            <a:r>
              <a:rPr lang="ko-KR" altLang="en-US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案 </a:t>
            </a:r>
            <a:r>
              <a:rPr lang="en-US" altLang="ko-KR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/ Call Flow (</a:t>
            </a:r>
            <a:r>
              <a:rPr lang="ko-KR" altLang="en-US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업무시간 </a:t>
            </a:r>
            <a:r>
              <a:rPr lang="en-US" altLang="ko-KR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: 10</a:t>
            </a:r>
            <a:r>
              <a:rPr lang="ko-KR" altLang="en-US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시 </a:t>
            </a:r>
            <a:r>
              <a:rPr lang="en-US" altLang="ko-KR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~ 17</a:t>
            </a:r>
            <a:r>
              <a:rPr lang="ko-KR" altLang="en-US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시</a:t>
            </a:r>
            <a:r>
              <a:rPr lang="en-US" altLang="ko-KR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)</a:t>
            </a:r>
            <a:endParaRPr lang="ko-KR" altLang="en-US" sz="1798" b="1" dirty="0">
              <a:ln>
                <a:solidFill>
                  <a:prstClr val="black">
                    <a:alpha val="44000"/>
                  </a:prstClr>
                </a:solidFill>
              </a:ln>
              <a:solidFill>
                <a:srgbClr val="5B85DA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A552F86-412C-2812-B13E-0FD2A905F39C}"/>
              </a:ext>
            </a:extLst>
          </p:cNvPr>
          <p:cNvSpPr/>
          <p:nvPr/>
        </p:nvSpPr>
        <p:spPr bwMode="auto">
          <a:xfrm>
            <a:off x="1436261" y="1341440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indent="-273050"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TTS1</a:t>
            </a:r>
            <a:endParaRPr kumimoji="1" lang="ko-KR" altLang="en-US" sz="900" b="1" dirty="0">
              <a:solidFill>
                <a:srgbClr val="FF0000"/>
              </a:solidFill>
              <a:latin typeface="나눔고딕" pitchFamily="2" charset="-127"/>
              <a:ea typeface="나눔고딕" pitchFamily="2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A968451-E340-6864-AC19-2BBBE5CA9ACC}"/>
              </a:ext>
            </a:extLst>
          </p:cNvPr>
          <p:cNvSpPr/>
          <p:nvPr/>
        </p:nvSpPr>
        <p:spPr bwMode="auto">
          <a:xfrm>
            <a:off x="2373035" y="1341439"/>
            <a:ext cx="3168352" cy="431701"/>
          </a:xfrm>
          <a:prstGeom prst="rect">
            <a:avLst/>
          </a:prstGeom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900" dirty="0">
                <a:latin typeface="나눔고딕" pitchFamily="2" charset="-127"/>
                <a:ea typeface="나눔고딕" pitchFamily="2" charset="-127"/>
              </a:rPr>
              <a:t>안녕하세요</a:t>
            </a:r>
            <a:r>
              <a:rPr lang="en-US" altLang="ko-KR" sz="900" dirty="0">
                <a:latin typeface="나눔고딕" pitchFamily="2" charset="-127"/>
                <a:ea typeface="나눔고딕" pitchFamily="2" charset="-127"/>
              </a:rPr>
              <a:t>,</a:t>
            </a:r>
            <a:r>
              <a:rPr lang="ko-KR" altLang="en-US" sz="900" dirty="0">
                <a:latin typeface="나눔고딕" pitchFamily="2" charset="-127"/>
                <a:ea typeface="나눔고딕" pitchFamily="2" charset="-127"/>
              </a:rPr>
              <a:t> </a:t>
            </a:r>
            <a:r>
              <a:rPr lang="ko-KR" altLang="en-US" sz="900" dirty="0" err="1">
                <a:latin typeface="나눔고딕" pitchFamily="2" charset="-127"/>
                <a:ea typeface="나눔고딕" pitchFamily="2" charset="-127"/>
              </a:rPr>
              <a:t>아이베</a:t>
            </a:r>
            <a:r>
              <a:rPr lang="ko-KR" altLang="en-US" sz="900" dirty="0">
                <a:latin typeface="나눔고딕" pitchFamily="2" charset="-127"/>
                <a:ea typeface="나눔고딕" pitchFamily="2" charset="-127"/>
              </a:rPr>
              <a:t> 입니다</a:t>
            </a:r>
            <a:r>
              <a:rPr lang="en-US" altLang="ko-KR" sz="900" dirty="0">
                <a:latin typeface="나눔고딕" pitchFamily="2" charset="-127"/>
                <a:ea typeface="나눔고딕" pitchFamily="2" charset="-127"/>
              </a:rPr>
              <a:t>.</a:t>
            </a:r>
            <a:endParaRPr lang="ko-KR" altLang="en-US" sz="900" dirty="0">
              <a:latin typeface="나눔고딕" pitchFamily="2" charset="-127"/>
              <a:ea typeface="나눔고딕" pitchFamily="2" charset="-127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BE75E88-07B2-C449-455E-DBD76D89BDCA}"/>
              </a:ext>
            </a:extLst>
          </p:cNvPr>
          <p:cNvSpPr/>
          <p:nvPr/>
        </p:nvSpPr>
        <p:spPr bwMode="auto">
          <a:xfrm>
            <a:off x="1436261" y="1925613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indent="-273050"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TTS2</a:t>
            </a:r>
            <a:endParaRPr kumimoji="1" lang="ko-KR" altLang="en-US" sz="900" b="1" dirty="0">
              <a:solidFill>
                <a:srgbClr val="FF0000"/>
              </a:solidFill>
              <a:latin typeface="나눔고딕" pitchFamily="2" charset="-127"/>
              <a:ea typeface="나눔고딕" pitchFamily="2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61894B2-4D5A-04AF-479C-D0010F6DCFF7}"/>
              </a:ext>
            </a:extLst>
          </p:cNvPr>
          <p:cNvSpPr/>
          <p:nvPr/>
        </p:nvSpPr>
        <p:spPr bwMode="auto">
          <a:xfrm>
            <a:off x="2373035" y="1925612"/>
            <a:ext cx="3168352" cy="431701"/>
          </a:xfrm>
          <a:prstGeom prst="rect">
            <a:avLst/>
          </a:prstGeom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defRPr/>
            </a:pPr>
            <a:r>
              <a:rPr lang="ko-KR" altLang="en-US" sz="900" dirty="0">
                <a:solidFill>
                  <a:schemeClr val="tx1"/>
                </a:solidFill>
                <a:latin typeface="나눔고딕" pitchFamily="2" charset="-127"/>
                <a:ea typeface="나눔고딕" pitchFamily="2" charset="-127"/>
              </a:rPr>
              <a:t>상담을 원하시는 브랜드를 선택해주세요</a:t>
            </a:r>
            <a:r>
              <a:rPr lang="en-US" altLang="ko-KR" sz="900" dirty="0">
                <a:solidFill>
                  <a:schemeClr val="tx1"/>
                </a:solidFill>
                <a:latin typeface="나눔고딕" pitchFamily="2" charset="-127"/>
                <a:ea typeface="나눔고딕" pitchFamily="2" charset="-127"/>
              </a:rPr>
              <a:t>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C47AAC-B967-859E-E23B-13D9512480D9}"/>
              </a:ext>
            </a:extLst>
          </p:cNvPr>
          <p:cNvSpPr/>
          <p:nvPr/>
        </p:nvSpPr>
        <p:spPr bwMode="auto">
          <a:xfrm>
            <a:off x="1436261" y="2509786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indent="-273050"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TTS3</a:t>
            </a:r>
            <a:endParaRPr kumimoji="1" lang="ko-KR" altLang="en-US" sz="900" b="1" dirty="0">
              <a:solidFill>
                <a:srgbClr val="FF0000"/>
              </a:solidFill>
              <a:latin typeface="나눔고딕" pitchFamily="2" charset="-127"/>
              <a:ea typeface="나눔고딕" pitchFamily="2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0CF3192-BE9C-5B6F-495C-D8231EDA9466}"/>
              </a:ext>
            </a:extLst>
          </p:cNvPr>
          <p:cNvSpPr/>
          <p:nvPr/>
        </p:nvSpPr>
        <p:spPr bwMode="auto">
          <a:xfrm>
            <a:off x="2373035" y="2509785"/>
            <a:ext cx="3168352" cy="431701"/>
          </a:xfrm>
          <a:prstGeom prst="rect">
            <a:avLst/>
          </a:prstGeom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defRPr/>
            </a:pPr>
            <a:r>
              <a:rPr lang="ko-KR" altLang="en-US" sz="900" dirty="0" err="1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드리미</a:t>
            </a:r>
            <a:r>
              <a:rPr lang="ko-KR" altLang="en-US" sz="9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관련 문의는 </a:t>
            </a:r>
            <a:r>
              <a:rPr lang="en-US" altLang="ko-KR" sz="9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1</a:t>
            </a:r>
            <a:r>
              <a:rPr lang="ko-KR" altLang="en-US" sz="9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번</a:t>
            </a:r>
            <a:r>
              <a:rPr lang="en-US" altLang="ko-KR" sz="9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</a:t>
            </a:r>
            <a:r>
              <a:rPr lang="ko-KR" altLang="en-US" sz="900" dirty="0" err="1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압타밀</a:t>
            </a:r>
            <a:r>
              <a:rPr lang="ko-KR" altLang="en-US" sz="9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관련 문의는 </a:t>
            </a:r>
            <a:r>
              <a:rPr lang="en-US" altLang="ko-KR" sz="9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2</a:t>
            </a:r>
            <a:r>
              <a:rPr lang="ko-KR" altLang="en-US" sz="9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번</a:t>
            </a:r>
            <a:r>
              <a:rPr lang="en-US" altLang="ko-KR" sz="9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</a:t>
            </a:r>
            <a:br>
              <a:rPr lang="en-US" altLang="ko-KR" sz="9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</a:br>
            <a:r>
              <a:rPr lang="ko-KR" altLang="en-US" sz="900" dirty="0" err="1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포티밀</a:t>
            </a:r>
            <a:r>
              <a:rPr lang="ko-KR" altLang="en-US" sz="9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관련 문의는 </a:t>
            </a:r>
            <a:r>
              <a:rPr lang="en-US" altLang="ko-KR" sz="9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3</a:t>
            </a:r>
            <a:r>
              <a:rPr lang="ko-KR" altLang="en-US" sz="9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번을 눌러주세요</a:t>
            </a:r>
            <a:r>
              <a:rPr lang="en-US" altLang="ko-KR" sz="9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defRPr/>
            </a:pPr>
            <a:r>
              <a:rPr lang="ko-KR" altLang="en-US" sz="9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다시 듣기는 우물정자</a:t>
            </a:r>
            <a:r>
              <a:rPr lang="en-US" altLang="ko-KR" sz="9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(#)</a:t>
            </a:r>
            <a:r>
              <a:rPr lang="ko-KR" altLang="en-US" sz="9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를 눌러주세요</a:t>
            </a:r>
            <a:r>
              <a:rPr lang="en-US" altLang="ko-KR" sz="9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21255CA-53D3-3BB7-4634-432FEDD4239A}"/>
              </a:ext>
            </a:extLst>
          </p:cNvPr>
          <p:cNvSpPr/>
          <p:nvPr/>
        </p:nvSpPr>
        <p:spPr bwMode="auto">
          <a:xfrm>
            <a:off x="1436261" y="3598015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indent="-273050"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TTS4</a:t>
            </a:r>
            <a:endParaRPr kumimoji="1" lang="ko-KR" altLang="en-US" sz="900" b="1" dirty="0">
              <a:solidFill>
                <a:srgbClr val="FF0000"/>
              </a:solidFill>
              <a:latin typeface="나눔고딕" pitchFamily="2" charset="-127"/>
              <a:ea typeface="나눔고딕" pitchFamily="2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30FC7E3-6D9D-AB3B-1287-8B3531166358}"/>
              </a:ext>
            </a:extLst>
          </p:cNvPr>
          <p:cNvSpPr/>
          <p:nvPr/>
        </p:nvSpPr>
        <p:spPr bwMode="auto">
          <a:xfrm>
            <a:off x="2373035" y="3598014"/>
            <a:ext cx="3168352" cy="431701"/>
          </a:xfrm>
          <a:prstGeom prst="rect">
            <a:avLst/>
          </a:prstGeom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defRPr/>
            </a:pPr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더 나은 서비스 제공을 위해 </a:t>
            </a:r>
            <a:r>
              <a:rPr lang="ko-KR" altLang="en-US" sz="900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고객님과의</a:t>
            </a:r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 통화내용이 </a:t>
            </a:r>
            <a:endParaRPr lang="en-US" altLang="ko-KR" sz="9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>
              <a:defRPr/>
            </a:pPr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녹취됨을 알려드립니다</a:t>
            </a: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BFB57C6-265E-8151-1992-400D12102B89}"/>
              </a:ext>
            </a:extLst>
          </p:cNvPr>
          <p:cNvSpPr/>
          <p:nvPr/>
        </p:nvSpPr>
        <p:spPr bwMode="auto">
          <a:xfrm>
            <a:off x="1436261" y="4176538"/>
            <a:ext cx="792758" cy="620614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indent="-273050"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TTS5</a:t>
            </a:r>
            <a:endParaRPr kumimoji="1" lang="ko-KR" altLang="en-US" sz="900" b="1" dirty="0">
              <a:solidFill>
                <a:srgbClr val="FF0000"/>
              </a:solidFill>
              <a:latin typeface="나눔고딕" pitchFamily="2" charset="-127"/>
              <a:ea typeface="나눔고딕" pitchFamily="2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A5CFAB9-F9ED-6842-4273-FAF3C55673F8}"/>
              </a:ext>
            </a:extLst>
          </p:cNvPr>
          <p:cNvSpPr/>
          <p:nvPr/>
        </p:nvSpPr>
        <p:spPr bwMode="auto">
          <a:xfrm>
            <a:off x="2373035" y="4176538"/>
            <a:ext cx="3168352" cy="620615"/>
          </a:xfrm>
          <a:prstGeom prst="rect">
            <a:avLst/>
          </a:prstGeom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잠시 후 연결되는 상담사는 누군가의 소중한 가족입니다</a:t>
            </a: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산업안전 보건법에 따라 고객 응대 근로자 보호조치를 시행하고</a:t>
            </a:r>
            <a:endParaRPr lang="en-US" altLang="ko-KR" sz="9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r>
              <a:rPr lang="ko-KR" altLang="en-US" sz="900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있사오니</a:t>
            </a: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altLang="en-US" sz="900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폭언등은</a:t>
            </a:r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 삼가하여 주시기 바랍니다</a:t>
            </a: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잠시만 기다려 주십시오</a:t>
            </a: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상담원을 연결해 드리겠습니다</a:t>
            </a: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  <a:endParaRPr lang="ko-KR" altLang="en-US" sz="9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3" name="십자형 12">
            <a:extLst>
              <a:ext uri="{FF2B5EF4-FFF2-40B4-BE49-F238E27FC236}">
                <a16:creationId xmlns:a16="http://schemas.microsoft.com/office/drawing/2014/main" id="{C1F7BB2A-1D23-6027-AF6A-804B9BB482F8}"/>
              </a:ext>
            </a:extLst>
          </p:cNvPr>
          <p:cNvSpPr/>
          <p:nvPr/>
        </p:nvSpPr>
        <p:spPr bwMode="auto">
          <a:xfrm>
            <a:off x="1712130" y="3946632"/>
            <a:ext cx="241021" cy="307777"/>
          </a:xfrm>
          <a:prstGeom prst="plus">
            <a:avLst/>
          </a:prstGeom>
          <a:solidFill>
            <a:srgbClr val="00B0F0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273050" indent="-273050" fontAlgn="base">
              <a:spcBef>
                <a:spcPct val="0"/>
              </a:spcBef>
              <a:spcAft>
                <a:spcPct val="0"/>
              </a:spcAft>
            </a:pPr>
            <a:endParaRPr kumimoji="1" lang="ko-KR" altLang="en-US" sz="1400">
              <a:latin typeface="Verdana" pitchFamily="34" charset="0"/>
              <a:ea typeface="돋움" pitchFamily="50" charset="-127"/>
            </a:endParaRPr>
          </a:p>
        </p:txBody>
      </p:sp>
      <p:sp>
        <p:nvSpPr>
          <p:cNvPr id="14" name="십자형 13">
            <a:extLst>
              <a:ext uri="{FF2B5EF4-FFF2-40B4-BE49-F238E27FC236}">
                <a16:creationId xmlns:a16="http://schemas.microsoft.com/office/drawing/2014/main" id="{72466607-0311-3533-A575-5B0CC918866D}"/>
              </a:ext>
            </a:extLst>
          </p:cNvPr>
          <p:cNvSpPr/>
          <p:nvPr/>
        </p:nvSpPr>
        <p:spPr bwMode="auto">
          <a:xfrm>
            <a:off x="3597172" y="3946690"/>
            <a:ext cx="241021" cy="307777"/>
          </a:xfrm>
          <a:prstGeom prst="plus">
            <a:avLst/>
          </a:prstGeom>
          <a:solidFill>
            <a:srgbClr val="00B0F0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273050" indent="-273050" fontAlgn="base">
              <a:spcBef>
                <a:spcPct val="0"/>
              </a:spcBef>
              <a:spcAft>
                <a:spcPct val="0"/>
              </a:spcAft>
            </a:pPr>
            <a:endParaRPr kumimoji="1" lang="ko-KR" altLang="en-US" sz="1400">
              <a:latin typeface="Verdana" pitchFamily="34" charset="0"/>
              <a:ea typeface="돋움" pitchFamily="50" charset="-127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78B5321B-F4AD-1188-4E80-2F753139DFAA}"/>
              </a:ext>
            </a:extLst>
          </p:cNvPr>
          <p:cNvSpPr/>
          <p:nvPr/>
        </p:nvSpPr>
        <p:spPr bwMode="auto">
          <a:xfrm>
            <a:off x="1436261" y="5085186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indent="-273050"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TTS6</a:t>
            </a:r>
            <a:endParaRPr kumimoji="1" lang="ko-KR" altLang="en-US" sz="900" b="1" dirty="0">
              <a:solidFill>
                <a:srgbClr val="FF0000"/>
              </a:solidFill>
              <a:latin typeface="나눔고딕" pitchFamily="2" charset="-127"/>
              <a:ea typeface="나눔고딕" pitchFamily="2" charset="-127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003EBF93-4867-CA0F-438C-825A74A4108B}"/>
              </a:ext>
            </a:extLst>
          </p:cNvPr>
          <p:cNvSpPr/>
          <p:nvPr/>
        </p:nvSpPr>
        <p:spPr bwMode="auto">
          <a:xfrm>
            <a:off x="2373035" y="5085185"/>
            <a:ext cx="3168352" cy="431701"/>
          </a:xfrm>
          <a:prstGeom prst="rect">
            <a:avLst/>
          </a:prstGeom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27013" indent="-227013" defTabSz="914360">
              <a:defRPr/>
            </a:pPr>
            <a:r>
              <a:rPr lang="ko-KR" altLang="en-US" sz="900" kern="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죄송합니다</a:t>
            </a:r>
            <a:r>
              <a:rPr lang="en-US" altLang="ko-KR" sz="900" kern="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  <a:r>
              <a:rPr lang="ko-KR" altLang="en-US" sz="900" kern="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지금은 모든 상담사가 통화 중으로</a:t>
            </a:r>
            <a:r>
              <a:rPr lang="en-US" altLang="ko-KR" sz="900" kern="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altLang="en-US" sz="900" kern="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잠시만 </a:t>
            </a:r>
            <a:endParaRPr lang="en-US" altLang="ko-KR" sz="900" kern="0" dirty="0">
              <a:solidFill>
                <a:schemeClr val="tx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227013" indent="-227013" defTabSz="914360">
              <a:defRPr/>
            </a:pPr>
            <a:r>
              <a:rPr lang="ko-KR" altLang="en-US" sz="900" kern="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기다려 주시면 </a:t>
            </a:r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상담사를 연결해 드리겠습니다</a:t>
            </a: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87ADB70A-94BF-0050-25F1-C200399F899D}"/>
              </a:ext>
            </a:extLst>
          </p:cNvPr>
          <p:cNvCxnSpPr>
            <a:stCxn id="3" idx="2"/>
            <a:endCxn id="5" idx="0"/>
          </p:cNvCxnSpPr>
          <p:nvPr/>
        </p:nvCxnSpPr>
        <p:spPr>
          <a:xfrm>
            <a:off x="1832640" y="1773140"/>
            <a:ext cx="0" cy="1524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63659CB5-EA00-3F3C-E921-6B5020FF6745}"/>
              </a:ext>
            </a:extLst>
          </p:cNvPr>
          <p:cNvCxnSpPr>
            <a:stCxn id="5" idx="2"/>
            <a:endCxn id="7" idx="0"/>
          </p:cNvCxnSpPr>
          <p:nvPr/>
        </p:nvCxnSpPr>
        <p:spPr>
          <a:xfrm>
            <a:off x="1832640" y="2357313"/>
            <a:ext cx="0" cy="1524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CF7B8B15-ABE5-2513-CB0A-12F56F04A310}"/>
              </a:ext>
            </a:extLst>
          </p:cNvPr>
          <p:cNvCxnSpPr>
            <a:stCxn id="11" idx="2"/>
            <a:endCxn id="29" idx="0"/>
          </p:cNvCxnSpPr>
          <p:nvPr/>
        </p:nvCxnSpPr>
        <p:spPr>
          <a:xfrm>
            <a:off x="1832640" y="4797153"/>
            <a:ext cx="0" cy="2880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3" name="직사각형 4">
            <a:extLst>
              <a:ext uri="{FF2B5EF4-FFF2-40B4-BE49-F238E27FC236}">
                <a16:creationId xmlns:a16="http://schemas.microsoft.com/office/drawing/2014/main" id="{94565AF6-8401-1105-59BE-4C05C9D72FEC}"/>
              </a:ext>
            </a:extLst>
          </p:cNvPr>
          <p:cNvSpPr/>
          <p:nvPr/>
        </p:nvSpPr>
        <p:spPr>
          <a:xfrm>
            <a:off x="1907965" y="4839578"/>
            <a:ext cx="970101" cy="175473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51" dirty="0">
                <a:solidFill>
                  <a:srgbClr val="0070C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Arial" panose="020B0604020202020204" pitchFamily="34" charset="0"/>
              </a:rPr>
              <a:t>전 상담사 대기 중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05FEB664-DAA5-9739-4558-49E98AAAEE2E}"/>
              </a:ext>
            </a:extLst>
          </p:cNvPr>
          <p:cNvSpPr/>
          <p:nvPr/>
        </p:nvSpPr>
        <p:spPr bwMode="auto">
          <a:xfrm>
            <a:off x="1436261" y="5877620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indent="-273050"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TTS7</a:t>
            </a:r>
            <a:endParaRPr kumimoji="1" lang="ko-KR" altLang="en-US" sz="900" b="1" dirty="0">
              <a:solidFill>
                <a:srgbClr val="FF0000"/>
              </a:solidFill>
              <a:latin typeface="나눔고딕" pitchFamily="2" charset="-127"/>
              <a:ea typeface="나눔고딕" pitchFamily="2" charset="-127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3765F71E-6C87-7394-F6DD-67AFE51C6FFE}"/>
              </a:ext>
            </a:extLst>
          </p:cNvPr>
          <p:cNvSpPr/>
          <p:nvPr/>
        </p:nvSpPr>
        <p:spPr bwMode="auto">
          <a:xfrm>
            <a:off x="2373035" y="5877619"/>
            <a:ext cx="3168352" cy="431701"/>
          </a:xfrm>
          <a:prstGeom prst="rect">
            <a:avLst/>
          </a:prstGeom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defRPr/>
            </a:pPr>
            <a:r>
              <a:rPr lang="ko-KR" altLang="en-US" sz="9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죄송합니다</a:t>
            </a:r>
            <a:r>
              <a:rPr lang="en-US" altLang="ko-KR" sz="9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  <a:r>
              <a:rPr lang="ko-KR" altLang="en-US" sz="9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지금은 통화량이 많아 상담원 연결이 어렵습니다</a:t>
            </a:r>
            <a:r>
              <a:rPr lang="en-US" altLang="ko-KR" sz="9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pPr>
              <a:defRPr/>
            </a:pPr>
            <a:r>
              <a:rPr lang="ko-KR" altLang="en-US" sz="9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잠시 후에 다시 이용을 부탁드립니다</a:t>
            </a:r>
            <a:r>
              <a:rPr lang="en-US" altLang="ko-KR" sz="9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5BB4BDBA-0AE4-7228-48F0-2D09DE90934A}"/>
              </a:ext>
            </a:extLst>
          </p:cNvPr>
          <p:cNvCxnSpPr>
            <a:stCxn id="29" idx="2"/>
            <a:endCxn id="44" idx="0"/>
          </p:cNvCxnSpPr>
          <p:nvPr/>
        </p:nvCxnSpPr>
        <p:spPr>
          <a:xfrm>
            <a:off x="1832640" y="5516887"/>
            <a:ext cx="0" cy="3607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8" name="Rectangle 2">
            <a:extLst>
              <a:ext uri="{FF2B5EF4-FFF2-40B4-BE49-F238E27FC236}">
                <a16:creationId xmlns:a16="http://schemas.microsoft.com/office/drawing/2014/main" id="{541B22DB-F009-5297-37AE-74FBECE97C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70794" y="723643"/>
            <a:ext cx="9067582" cy="54133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lIns="92075" tIns="46037" rIns="92075" bIns="46037" anchor="ctr"/>
          <a:lstStyle/>
          <a:p>
            <a:r>
              <a:rPr lang="ko-KR" altLang="en-US" b="1" u="sng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■ 대표번호</a:t>
            </a:r>
            <a:r>
              <a:rPr lang="en-US" altLang="ko-KR" b="1" u="sng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1544-1201 </a:t>
            </a:r>
            <a:r>
              <a:rPr lang="ko-KR" altLang="en-US" b="1" u="sng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업무 시간 정상적 콜 성우 녹음 멘트 흐름도</a:t>
            </a:r>
            <a:endParaRPr lang="ko-KR" altLang="en-US" b="1" u="sng" dirty="0">
              <a:ln>
                <a:solidFill>
                  <a:prstClr val="black">
                    <a:alpha val="44000"/>
                  </a:prstClr>
                </a:solidFill>
              </a:ln>
              <a:solidFill>
                <a:srgbClr val="5B85DA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23" name="직사각형 4">
            <a:extLst>
              <a:ext uri="{FF2B5EF4-FFF2-40B4-BE49-F238E27FC236}">
                <a16:creationId xmlns:a16="http://schemas.microsoft.com/office/drawing/2014/main" id="{D32E391F-ACCF-C3CC-54F8-1688CE5C32C1}"/>
              </a:ext>
            </a:extLst>
          </p:cNvPr>
          <p:cNvSpPr/>
          <p:nvPr/>
        </p:nvSpPr>
        <p:spPr>
          <a:xfrm>
            <a:off x="1887985" y="5609516"/>
            <a:ext cx="970101" cy="175473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51" dirty="0">
                <a:solidFill>
                  <a:srgbClr val="0070C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Arial" panose="020B0604020202020204" pitchFamily="34" charset="0"/>
              </a:rPr>
              <a:t>120</a:t>
            </a:r>
            <a:r>
              <a:rPr lang="ko-KR" altLang="en-US" sz="951" dirty="0">
                <a:solidFill>
                  <a:srgbClr val="0070C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Arial" panose="020B0604020202020204" pitchFamily="34" charset="0"/>
              </a:rPr>
              <a:t>초 후에</a:t>
            </a:r>
          </a:p>
        </p:txBody>
      </p:sp>
      <p:cxnSp>
        <p:nvCxnSpPr>
          <p:cNvPr id="31" name="연결선: 꺾임 30">
            <a:extLst>
              <a:ext uri="{FF2B5EF4-FFF2-40B4-BE49-F238E27FC236}">
                <a16:creationId xmlns:a16="http://schemas.microsoft.com/office/drawing/2014/main" id="{697BC1BA-57AD-E6C5-0B8E-B214A64CBF2D}"/>
              </a:ext>
            </a:extLst>
          </p:cNvPr>
          <p:cNvCxnSpPr>
            <a:stCxn id="30" idx="3"/>
            <a:endCxn id="12" idx="3"/>
          </p:cNvCxnSpPr>
          <p:nvPr/>
        </p:nvCxnSpPr>
        <p:spPr>
          <a:xfrm flipV="1">
            <a:off x="5541387" y="4486845"/>
            <a:ext cx="12700" cy="814190"/>
          </a:xfrm>
          <a:prstGeom prst="bentConnector3">
            <a:avLst>
              <a:gd name="adj1" fmla="val 180000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headEnd type="triangle"/>
            <a:tailEnd type="triangle"/>
          </a:ln>
          <a:effectLst/>
        </p:spPr>
      </p:cxnSp>
      <p:sp>
        <p:nvSpPr>
          <p:cNvPr id="32" name="직사각형 4">
            <a:extLst>
              <a:ext uri="{FF2B5EF4-FFF2-40B4-BE49-F238E27FC236}">
                <a16:creationId xmlns:a16="http://schemas.microsoft.com/office/drawing/2014/main" id="{08326C50-0C18-6B0E-629F-8C8EF0D2E164}"/>
              </a:ext>
            </a:extLst>
          </p:cNvPr>
          <p:cNvSpPr/>
          <p:nvPr/>
        </p:nvSpPr>
        <p:spPr>
          <a:xfrm>
            <a:off x="5399714" y="4867926"/>
            <a:ext cx="970101" cy="175473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51" dirty="0">
                <a:solidFill>
                  <a:srgbClr val="0070C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Arial" panose="020B0604020202020204" pitchFamily="34" charset="0"/>
              </a:rPr>
              <a:t>120</a:t>
            </a:r>
            <a:r>
              <a:rPr lang="ko-KR" altLang="en-US" sz="951" dirty="0">
                <a:solidFill>
                  <a:srgbClr val="0070C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Arial" panose="020B0604020202020204" pitchFamily="34" charset="0"/>
              </a:rPr>
              <a:t>초 상담사 연결 대기</a:t>
            </a: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2688633C-09A5-0237-2BD2-1BD949613BC8}"/>
              </a:ext>
            </a:extLst>
          </p:cNvPr>
          <p:cNvCxnSpPr>
            <a:stCxn id="7" idx="2"/>
            <a:endCxn id="9" idx="0"/>
          </p:cNvCxnSpPr>
          <p:nvPr/>
        </p:nvCxnSpPr>
        <p:spPr>
          <a:xfrm>
            <a:off x="1832640" y="2941486"/>
            <a:ext cx="0" cy="65652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8" name="직사각형 4">
            <a:extLst>
              <a:ext uri="{FF2B5EF4-FFF2-40B4-BE49-F238E27FC236}">
                <a16:creationId xmlns:a16="http://schemas.microsoft.com/office/drawing/2014/main" id="{41B27639-2E17-3188-D0BC-54F2FF0DDBE6}"/>
              </a:ext>
            </a:extLst>
          </p:cNvPr>
          <p:cNvSpPr/>
          <p:nvPr/>
        </p:nvSpPr>
        <p:spPr>
          <a:xfrm>
            <a:off x="5697854" y="3073416"/>
            <a:ext cx="970101" cy="175473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51" dirty="0">
                <a:solidFill>
                  <a:srgbClr val="0070C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Arial" panose="020B0604020202020204" pitchFamily="34" charset="0"/>
              </a:rPr>
              <a:t>120</a:t>
            </a:r>
            <a:r>
              <a:rPr lang="ko-KR" altLang="en-US" sz="951" dirty="0">
                <a:solidFill>
                  <a:srgbClr val="0070C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Arial" panose="020B0604020202020204" pitchFamily="34" charset="0"/>
              </a:rPr>
              <a:t>초 상담사 연결 대기 시</a:t>
            </a:r>
            <a:endParaRPr lang="en-US" altLang="ko-KR" sz="951" dirty="0">
              <a:solidFill>
                <a:srgbClr val="0070C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Arial" panose="020B0604020202020204" pitchFamily="34" charset="0"/>
            </a:endParaRPr>
          </a:p>
          <a:p>
            <a:pPr algn="ctr"/>
            <a:r>
              <a:rPr lang="ko-KR" altLang="en-US" sz="951" dirty="0">
                <a:solidFill>
                  <a:srgbClr val="0070C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Arial" panose="020B0604020202020204" pitchFamily="34" charset="0"/>
              </a:rPr>
              <a:t>멘트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FB8BD56-9CEF-10C8-8C99-3750F3D34361}"/>
              </a:ext>
            </a:extLst>
          </p:cNvPr>
          <p:cNvSpPr/>
          <p:nvPr/>
        </p:nvSpPr>
        <p:spPr bwMode="auto">
          <a:xfrm>
            <a:off x="7680176" y="1903353"/>
            <a:ext cx="3168352" cy="431701"/>
          </a:xfrm>
          <a:prstGeom prst="rect">
            <a:avLst/>
          </a:prstGeom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defRPr/>
            </a:pPr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아이에게 평생 건강을 선물하는</a:t>
            </a:r>
            <a:b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</a:br>
            <a:r>
              <a:rPr lang="ko-KR" altLang="en-US" sz="900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뉴트리시아</a:t>
            </a:r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altLang="en-US" sz="900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압타밀</a:t>
            </a:r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 입니다</a:t>
            </a: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defRPr/>
            </a:pPr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잠시만 기다려 주시면</a:t>
            </a: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상담원을 연결해 드리겠습니다</a:t>
            </a:r>
            <a:endParaRPr lang="en-US" altLang="ko-KR" sz="9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F61B15EA-947A-3109-F679-E799AB8E64F1}"/>
              </a:ext>
            </a:extLst>
          </p:cNvPr>
          <p:cNvSpPr/>
          <p:nvPr/>
        </p:nvSpPr>
        <p:spPr bwMode="auto">
          <a:xfrm>
            <a:off x="6744072" y="1903353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indent="-273050" algn="ctr"/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TTS8-2</a:t>
            </a:r>
            <a:endParaRPr lang="ko-KR" altLang="en-US" sz="900" b="1" dirty="0">
              <a:solidFill>
                <a:srgbClr val="FF0000"/>
              </a:solidFill>
              <a:latin typeface="나눔고딕" pitchFamily="2" charset="-127"/>
              <a:ea typeface="나눔고딕" pitchFamily="2" charset="-127"/>
            </a:endParaRPr>
          </a:p>
        </p:txBody>
      </p:sp>
      <p:cxnSp>
        <p:nvCxnSpPr>
          <p:cNvPr id="17" name="연결선: 꺾임 16">
            <a:extLst>
              <a:ext uri="{FF2B5EF4-FFF2-40B4-BE49-F238E27FC236}">
                <a16:creationId xmlns:a16="http://schemas.microsoft.com/office/drawing/2014/main" id="{F8572F6C-9A0F-E215-68A0-426458634202}"/>
              </a:ext>
            </a:extLst>
          </p:cNvPr>
          <p:cNvCxnSpPr>
            <a:cxnSpLocks/>
            <a:stCxn id="30" idx="3"/>
            <a:endCxn id="24" idx="1"/>
          </p:cNvCxnSpPr>
          <p:nvPr/>
        </p:nvCxnSpPr>
        <p:spPr>
          <a:xfrm flipV="1">
            <a:off x="5541388" y="1572761"/>
            <a:ext cx="1202685" cy="3728274"/>
          </a:xfrm>
          <a:prstGeom prst="bentConnector3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02B70DB-413C-F031-8363-0ECB651632FB}"/>
              </a:ext>
            </a:extLst>
          </p:cNvPr>
          <p:cNvSpPr/>
          <p:nvPr/>
        </p:nvSpPr>
        <p:spPr bwMode="auto">
          <a:xfrm>
            <a:off x="7680176" y="2465417"/>
            <a:ext cx="3168352" cy="431701"/>
          </a:xfrm>
          <a:prstGeom prst="rect">
            <a:avLst/>
          </a:prstGeom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defRPr/>
            </a:pPr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단백질로 채우는 건강</a:t>
            </a: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b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</a:br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영양과학설계의 </a:t>
            </a:r>
            <a:r>
              <a:rPr lang="ko-KR" altLang="en-US" sz="900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뉴트리시아</a:t>
            </a:r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altLang="en-US" sz="900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포티멜</a:t>
            </a:r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 입니다</a:t>
            </a: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defRPr/>
            </a:pPr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잠시만 기다려 주시면</a:t>
            </a: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상담원을 연결해 드리겠습니다</a:t>
            </a:r>
            <a:endParaRPr lang="en-US" altLang="ko-KR" sz="9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775BBAE1-56CF-DFE9-BCE8-94A1CD6E8266}"/>
              </a:ext>
            </a:extLst>
          </p:cNvPr>
          <p:cNvSpPr/>
          <p:nvPr/>
        </p:nvSpPr>
        <p:spPr bwMode="auto">
          <a:xfrm>
            <a:off x="6744072" y="2465417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indent="-273050" algn="ctr"/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TTS8-3</a:t>
            </a:r>
            <a:endParaRPr lang="ko-KR" altLang="en-US" sz="900" b="1" dirty="0">
              <a:solidFill>
                <a:srgbClr val="FF0000"/>
              </a:solidFill>
              <a:latin typeface="나눔고딕" pitchFamily="2" charset="-127"/>
              <a:ea typeface="나눔고딕" pitchFamily="2" charset="-127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628A0DC2-FBD5-B360-839D-AB24228990BE}"/>
              </a:ext>
            </a:extLst>
          </p:cNvPr>
          <p:cNvSpPr/>
          <p:nvPr/>
        </p:nvSpPr>
        <p:spPr bwMode="auto">
          <a:xfrm>
            <a:off x="7680176" y="1356911"/>
            <a:ext cx="3168352" cy="431701"/>
          </a:xfrm>
          <a:prstGeom prst="rect">
            <a:avLst/>
          </a:prstGeom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defRPr/>
            </a:pP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All dreams in one </a:t>
            </a:r>
            <a:r>
              <a:rPr lang="en-US" altLang="ko-KR" sz="900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dreame</a:t>
            </a: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defRPr/>
            </a:pPr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안녕하세요 </a:t>
            </a:r>
            <a:r>
              <a:rPr lang="ko-KR" altLang="en-US" sz="900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드리미</a:t>
            </a:r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 입니다</a:t>
            </a: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defRPr/>
            </a:pPr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잠시만 기다려 주시면</a:t>
            </a: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상담원을 연결해 드리겠습니다</a:t>
            </a:r>
            <a:endParaRPr lang="en-US" altLang="ko-KR" sz="9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4DF6E580-75B9-727B-BF11-1025AD3586B6}"/>
              </a:ext>
            </a:extLst>
          </p:cNvPr>
          <p:cNvSpPr/>
          <p:nvPr/>
        </p:nvSpPr>
        <p:spPr bwMode="auto">
          <a:xfrm>
            <a:off x="6744072" y="1356911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indent="-273050"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TT8-1</a:t>
            </a:r>
            <a:endParaRPr kumimoji="1" lang="ko-KR" altLang="en-US" sz="900" b="1" dirty="0">
              <a:solidFill>
                <a:srgbClr val="FF0000"/>
              </a:solidFill>
              <a:latin typeface="나눔고딕" pitchFamily="2" charset="-127"/>
              <a:ea typeface="나눔고딕" pitchFamily="2" charset="-127"/>
            </a:endParaRPr>
          </a:p>
        </p:txBody>
      </p: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5DAC9BAF-03C8-9FDE-4553-CEBF9A121808}"/>
              </a:ext>
            </a:extLst>
          </p:cNvPr>
          <p:cNvCxnSpPr>
            <a:cxnSpLocks/>
            <a:stCxn id="30" idx="3"/>
            <a:endCxn id="16" idx="1"/>
          </p:cNvCxnSpPr>
          <p:nvPr/>
        </p:nvCxnSpPr>
        <p:spPr>
          <a:xfrm flipV="1">
            <a:off x="5541388" y="2119203"/>
            <a:ext cx="1202685" cy="3181832"/>
          </a:xfrm>
          <a:prstGeom prst="bentConnector3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8" name="연결선: 꺾임 27">
            <a:extLst>
              <a:ext uri="{FF2B5EF4-FFF2-40B4-BE49-F238E27FC236}">
                <a16:creationId xmlns:a16="http://schemas.microsoft.com/office/drawing/2014/main" id="{2BFE0295-7608-E7A7-BF2A-4923C4D6DCAD}"/>
              </a:ext>
            </a:extLst>
          </p:cNvPr>
          <p:cNvCxnSpPr>
            <a:cxnSpLocks/>
            <a:stCxn id="30" idx="3"/>
            <a:endCxn id="19" idx="1"/>
          </p:cNvCxnSpPr>
          <p:nvPr/>
        </p:nvCxnSpPr>
        <p:spPr>
          <a:xfrm flipV="1">
            <a:off x="5541388" y="2681267"/>
            <a:ext cx="1202685" cy="2619768"/>
          </a:xfrm>
          <a:prstGeom prst="bentConnector3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7016621C-C9A6-65DA-D32F-C9A88AF92B78}"/>
              </a:ext>
            </a:extLst>
          </p:cNvPr>
          <p:cNvSpPr txBox="1"/>
          <p:nvPr/>
        </p:nvSpPr>
        <p:spPr>
          <a:xfrm>
            <a:off x="5719042" y="1434767"/>
            <a:ext cx="77457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dirty="0">
                <a:solidFill>
                  <a:schemeClr val="dk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TT3</a:t>
            </a:r>
            <a:r>
              <a:rPr lang="ko-KR" altLang="en-US" sz="900" dirty="0">
                <a:solidFill>
                  <a:schemeClr val="dk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번 </a:t>
            </a:r>
            <a:r>
              <a:rPr lang="en-US" altLang="ko-KR" sz="900" dirty="0">
                <a:solidFill>
                  <a:schemeClr val="dk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- 1</a:t>
            </a:r>
            <a:r>
              <a:rPr lang="ko-KR" altLang="en-US" sz="900" dirty="0">
                <a:solidFill>
                  <a:schemeClr val="dk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번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D71C094-3328-33D3-6CE5-9681EF436CEF}"/>
              </a:ext>
            </a:extLst>
          </p:cNvPr>
          <p:cNvSpPr txBox="1"/>
          <p:nvPr/>
        </p:nvSpPr>
        <p:spPr>
          <a:xfrm>
            <a:off x="5738674" y="1999392"/>
            <a:ext cx="77457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dirty="0">
                <a:solidFill>
                  <a:schemeClr val="dk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TT3</a:t>
            </a:r>
            <a:r>
              <a:rPr lang="ko-KR" altLang="en-US" sz="900" dirty="0">
                <a:solidFill>
                  <a:schemeClr val="dk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번 </a:t>
            </a:r>
            <a:r>
              <a:rPr lang="en-US" altLang="ko-KR" sz="900" dirty="0">
                <a:solidFill>
                  <a:schemeClr val="dk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- 2</a:t>
            </a:r>
            <a:r>
              <a:rPr lang="ko-KR" altLang="en-US" sz="900" dirty="0">
                <a:solidFill>
                  <a:schemeClr val="dk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번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438CF74-2281-1DF7-FFD2-36206E1373D6}"/>
              </a:ext>
            </a:extLst>
          </p:cNvPr>
          <p:cNvSpPr txBox="1"/>
          <p:nvPr/>
        </p:nvSpPr>
        <p:spPr>
          <a:xfrm>
            <a:off x="5770529" y="2556563"/>
            <a:ext cx="77457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dirty="0">
                <a:solidFill>
                  <a:schemeClr val="dk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TT3</a:t>
            </a:r>
            <a:r>
              <a:rPr lang="ko-KR" altLang="en-US" sz="900" dirty="0">
                <a:solidFill>
                  <a:schemeClr val="dk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번 </a:t>
            </a:r>
            <a:r>
              <a:rPr lang="en-US" altLang="ko-KR" sz="900" dirty="0">
                <a:solidFill>
                  <a:schemeClr val="dk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- 3</a:t>
            </a:r>
            <a:r>
              <a:rPr lang="ko-KR" altLang="en-US" sz="900" dirty="0">
                <a:solidFill>
                  <a:schemeClr val="dk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번</a:t>
            </a:r>
          </a:p>
        </p:txBody>
      </p:sp>
    </p:spTree>
    <p:extLst>
      <p:ext uri="{BB962C8B-B14F-4D97-AF65-F5344CB8AC3E}">
        <p14:creationId xmlns:p14="http://schemas.microsoft.com/office/powerpoint/2010/main" val="42885825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698</Words>
  <Application>Microsoft Office PowerPoint</Application>
  <PresentationFormat>와이드스크린</PresentationFormat>
  <Paragraphs>142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9" baseType="lpstr">
      <vt:lpstr>나눔고딕</vt:lpstr>
      <vt:lpstr>맑은 고딕</vt:lpstr>
      <vt:lpstr>Arial</vt:lpstr>
      <vt:lpstr>Verdana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지윤환</dc:creator>
  <cp:lastModifiedBy>지윤환</cp:lastModifiedBy>
  <cp:revision>22</cp:revision>
  <dcterms:created xsi:type="dcterms:W3CDTF">2026-01-08T07:48:00Z</dcterms:created>
  <dcterms:modified xsi:type="dcterms:W3CDTF">2026-01-12T01:16:00Z</dcterms:modified>
</cp:coreProperties>
</file>